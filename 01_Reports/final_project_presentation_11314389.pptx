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1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presProps.xml" ContentType="application/vnd.openxmlformats-officedocument.presentationml.presProps+xml"/>
  <Override PartName="/ppt/media/image1.wmf" ContentType="image/x-wmf"/>
  <Override PartName="/ppt/media/image15.gif" ContentType="image/gif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wmf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wmf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wmf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wmf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wmf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wmf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wmf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wmf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wmf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wmf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wmf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jpeg"/><Relationship Id="rId6" Type="http://schemas.openxmlformats.org/officeDocument/2006/relationships/image" Target="../media/image6.png"/><Relationship Id="rId7" Type="http://schemas.openxmlformats.org/officeDocument/2006/relationships/image" Target="../media/image2.png"/><Relationship Id="rId8" Type="http://schemas.openxmlformats.org/officeDocument/2006/relationships/image" Target="../media/image7.jpe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jpeg"/><Relationship Id="rId6" Type="http://schemas.openxmlformats.org/officeDocument/2006/relationships/image" Target="../media/image6.png"/><Relationship Id="rId7" Type="http://schemas.openxmlformats.org/officeDocument/2006/relationships/image" Target="../media/image2.png"/><Relationship Id="rId8" Type="http://schemas.openxmlformats.org/officeDocument/2006/relationships/image" Target="../media/image7.jpe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jpeg"/><Relationship Id="rId6" Type="http://schemas.openxmlformats.org/officeDocument/2006/relationships/image" Target="../media/image6.png"/><Relationship Id="rId7" Type="http://schemas.openxmlformats.org/officeDocument/2006/relationships/image" Target="../media/image2.png"/><Relationship Id="rId8" Type="http://schemas.openxmlformats.org/officeDocument/2006/relationships/image" Target="../media/image7.jpe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jpeg"/><Relationship Id="rId6" Type="http://schemas.openxmlformats.org/officeDocument/2006/relationships/image" Target="../media/image6.png"/><Relationship Id="rId7" Type="http://schemas.openxmlformats.org/officeDocument/2006/relationships/image" Target="../media/image2.png"/><Relationship Id="rId8" Type="http://schemas.openxmlformats.org/officeDocument/2006/relationships/image" Target="../media/image7.jpeg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jpeg"/><Relationship Id="rId6" Type="http://schemas.openxmlformats.org/officeDocument/2006/relationships/image" Target="../media/image6.png"/><Relationship Id="rId7" Type="http://schemas.openxmlformats.org/officeDocument/2006/relationships/image" Target="../media/image2.png"/><Relationship Id="rId8" Type="http://schemas.openxmlformats.org/officeDocument/2006/relationships/image" Target="../media/image7.jpeg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jpeg"/><Relationship Id="rId6" Type="http://schemas.openxmlformats.org/officeDocument/2006/relationships/image" Target="../media/image6.png"/><Relationship Id="rId7" Type="http://schemas.openxmlformats.org/officeDocument/2006/relationships/image" Target="../media/image2.png"/><Relationship Id="rId8" Type="http://schemas.openxmlformats.org/officeDocument/2006/relationships/image" Target="../media/image7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TAB_col_white_background.eps"/>
          <p:cNvPicPr/>
          <p:nvPr/>
        </p:nvPicPr>
        <p:blipFill>
          <a:blip r:embed="rId2"/>
          <a:stretch/>
        </p:blipFill>
        <p:spPr>
          <a:xfrm>
            <a:off x="523800" y="509760"/>
            <a:ext cx="1663200" cy="711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23520" y="2133000"/>
            <a:ext cx="1036296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914400">
              <a:lnSpc>
                <a:spcPct val="100000"/>
              </a:lnSpc>
              <a:buNone/>
              <a:defRPr lang="en-US" sz="28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8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28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</p:txBody>
      </p:sp>
      <p:cxnSp>
        <p:nvCxnSpPr>
          <p:cNvPr id="4" name="Straight Connector 8"/>
          <p:cNvCxnSpPr/>
          <p:nvPr/>
        </p:nvCxnSpPr>
        <p:spPr>
          <a:xfrm>
            <a:off x="623160" y="3789000"/>
            <a:ext cx="9505440" cy="360"/>
          </a:xfrm>
          <a:prstGeom prst="straightConnector1">
            <a:avLst/>
          </a:prstGeom>
          <a:ln w="25400">
            <a:solidFill>
              <a:srgbClr val="660066"/>
            </a:solidFill>
            <a:prstDash val="dot"/>
            <a:round/>
          </a:ln>
        </p:spPr>
      </p:cxn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spcBef>
                <a:spcPts val="28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spcBef>
                <a:spcPts val="28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TAB_col_white_background.eps"/>
          <p:cNvPicPr/>
          <p:nvPr/>
        </p:nvPicPr>
        <p:blipFill>
          <a:blip r:embed="rId2"/>
          <a:stretch/>
        </p:blipFill>
        <p:spPr>
          <a:xfrm>
            <a:off x="523800" y="509760"/>
            <a:ext cx="1663200" cy="711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2279520" y="258120"/>
            <a:ext cx="930240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3600" b="0" u="none" strike="noStrike">
                <a:solidFill>
                  <a:srgbClr val="7800A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rgbClr val="7800A2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3600" b="0" u="none" strike="noStrike">
              <a:solidFill>
                <a:srgbClr val="7800A2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–"/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–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1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2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3"/>
          </p:nvPr>
        </p:nvSpPr>
        <p:spPr>
          <a:xfrm>
            <a:off x="9348840" y="647280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0B6454-A03C-4043-BDFA-381C1AFADC8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TAB_col_white_background.eps"/>
          <p:cNvPicPr/>
          <p:nvPr/>
        </p:nvPicPr>
        <p:blipFill>
          <a:blip r:embed="rId2"/>
          <a:stretch/>
        </p:blipFill>
        <p:spPr>
          <a:xfrm>
            <a:off x="523800" y="509760"/>
            <a:ext cx="1663200" cy="711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839080" y="274680"/>
            <a:ext cx="27428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3600" b="0" u="none" strike="noStrike">
                <a:solidFill>
                  <a:srgbClr val="7800A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rgbClr val="7800A2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3600" b="0" u="none" strike="noStrike">
              <a:solidFill>
                <a:srgbClr val="7800A2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480" y="274680"/>
            <a:ext cx="802620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–"/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–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dt" idx="4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ftr" idx="5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sldNum" idx="6"/>
          </p:nvPr>
        </p:nvSpPr>
        <p:spPr>
          <a:xfrm>
            <a:off x="9348840" y="647280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E09366-0DCF-43B3-AA4E-5BAF0B01DFE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 descr="TAB_col_white_background.eps"/>
          <p:cNvPicPr/>
          <p:nvPr/>
        </p:nvPicPr>
        <p:blipFill>
          <a:blip r:embed="rId2"/>
          <a:stretch/>
        </p:blipFill>
        <p:spPr>
          <a:xfrm>
            <a:off x="523800" y="509760"/>
            <a:ext cx="1663200" cy="711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" name="PlaceHolder 1"/>
          <p:cNvSpPr>
            <a:spLocks noGrp="1"/>
          </p:cNvSpPr>
          <p:nvPr>
            <p:ph type="title" hasCustomPrompt="1"/>
          </p:nvPr>
        </p:nvSpPr>
        <p:spPr>
          <a:xfrm>
            <a:off x="2279520" y="258120"/>
            <a:ext cx="930240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3600" b="0" u="none" strike="noStrike">
                <a:solidFill>
                  <a:srgbClr val="7800A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rgbClr val="7800A2"/>
                </a:solidFill>
                <a:effectLst/>
                <a:uFillTx/>
                <a:latin typeface="Arial"/>
              </a:rPr>
              <a:t>	</a:t>
            </a:r>
            <a:r>
              <a:rPr lang="en-US" sz="3600" b="0" u="none" strike="noStrike">
                <a:solidFill>
                  <a:srgbClr val="7800A2"/>
                </a:solidFill>
                <a:effectLst/>
                <a:uFillTx/>
                <a:latin typeface="Arial"/>
              </a:rPr>
              <a:t>	</a:t>
            </a:r>
            <a:r>
              <a:rPr lang="en-US" sz="3600" b="0" u="none" strike="noStrike">
                <a:solidFill>
                  <a:srgbClr val="7800A2"/>
                </a:solidFill>
                <a:effectLst/>
                <a:uFillTx/>
                <a:latin typeface="Arial"/>
              </a:rPr>
              <a:t>Click to edit title</a:t>
            </a:r>
            <a:endParaRPr lang="en-US" sz="3600" b="0" u="none" strike="noStrike">
              <a:solidFill>
                <a:srgbClr val="7800A2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–"/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–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7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8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9"/>
          </p:nvPr>
        </p:nvSpPr>
        <p:spPr>
          <a:xfrm>
            <a:off x="9348840" y="647280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7D0A674-2D0C-41D2-A2BB-3E0DBB8ED33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 descr="TAB_col_white_background.eps"/>
          <p:cNvPicPr/>
          <p:nvPr/>
        </p:nvPicPr>
        <p:blipFill>
          <a:blip r:embed="rId2"/>
          <a:stretch/>
        </p:blipFill>
        <p:spPr>
          <a:xfrm>
            <a:off x="523800" y="509760"/>
            <a:ext cx="1663200" cy="711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963000" y="4406760"/>
            <a:ext cx="1036296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rgbClr val="7800A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rgbClr val="7800A2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4000" b="1" u="none" strike="noStrike" cap="all">
              <a:solidFill>
                <a:srgbClr val="7800A2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963000" y="2906640"/>
            <a:ext cx="1036296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12"/>
          </p:nvPr>
        </p:nvSpPr>
        <p:spPr>
          <a:xfrm>
            <a:off x="9348840" y="647280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9DE8248-4663-4168-8C4A-CC51B7A8539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" descr="TAB_col_white_background.eps"/>
          <p:cNvPicPr/>
          <p:nvPr/>
        </p:nvPicPr>
        <p:blipFill>
          <a:blip r:embed="rId2"/>
          <a:stretch/>
        </p:blipFill>
        <p:spPr>
          <a:xfrm>
            <a:off x="523800" y="509760"/>
            <a:ext cx="1663200" cy="711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2279520" y="258120"/>
            <a:ext cx="930240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3600" b="0" u="none" strike="noStrike">
                <a:solidFill>
                  <a:srgbClr val="7800A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rgbClr val="7800A2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3600" b="0" u="none" strike="noStrike">
              <a:solidFill>
                <a:srgbClr val="7800A2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53845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6197760" y="1600200"/>
            <a:ext cx="53845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13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ftr" idx="14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sldNum" idx="15"/>
          </p:nvPr>
        </p:nvSpPr>
        <p:spPr>
          <a:xfrm>
            <a:off x="9348840" y="647280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0EFB8D0-70D4-4D29-B385-C9D36D23FB2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2" descr="TAB_col_white_background.eps"/>
          <p:cNvPicPr/>
          <p:nvPr/>
        </p:nvPicPr>
        <p:blipFill>
          <a:blip r:embed="rId2"/>
          <a:stretch/>
        </p:blipFill>
        <p:spPr>
          <a:xfrm>
            <a:off x="523800" y="509760"/>
            <a:ext cx="1663200" cy="711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2279520" y="258120"/>
            <a:ext cx="930240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3600" b="0" u="none" strike="noStrike">
                <a:solidFill>
                  <a:srgbClr val="7800A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rgbClr val="7800A2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3600" b="0" u="none" strike="noStrike">
              <a:solidFill>
                <a:srgbClr val="7800A2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09480" y="1535040"/>
            <a:ext cx="53866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609480" y="2174760"/>
            <a:ext cx="538668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193440" y="1535040"/>
            <a:ext cx="538884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193440" y="2174760"/>
            <a:ext cx="538884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6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17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18"/>
          </p:nvPr>
        </p:nvSpPr>
        <p:spPr>
          <a:xfrm>
            <a:off x="9348840" y="647280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A6BF65-F099-41DD-BCDB-3D7CE9C7196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2" descr="TAB_col_white_background.eps"/>
          <p:cNvPicPr/>
          <p:nvPr/>
        </p:nvPicPr>
        <p:blipFill>
          <a:blip r:embed="rId2"/>
          <a:stretch/>
        </p:blipFill>
        <p:spPr>
          <a:xfrm>
            <a:off x="523800" y="509760"/>
            <a:ext cx="1663200" cy="711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2279520" y="258120"/>
            <a:ext cx="930240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3600" b="0" u="none" strike="noStrike">
                <a:solidFill>
                  <a:srgbClr val="7800A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rgbClr val="7800A2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3600" b="0" u="none" strike="noStrike">
              <a:solidFill>
                <a:srgbClr val="7800A2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19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20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21"/>
          </p:nvPr>
        </p:nvSpPr>
        <p:spPr>
          <a:xfrm>
            <a:off x="9348840" y="647280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4B5C233-A74F-469D-9B06-11056F3799F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2" descr="TAB_col_white_background.eps"/>
          <p:cNvPicPr/>
          <p:nvPr/>
        </p:nvPicPr>
        <p:blipFill>
          <a:blip r:embed="rId2"/>
          <a:stretch/>
        </p:blipFill>
        <p:spPr>
          <a:xfrm>
            <a:off x="523800" y="509760"/>
            <a:ext cx="1663200" cy="711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2" name="PlaceHolder 1"/>
          <p:cNvSpPr>
            <a:spLocks noGrp="1"/>
          </p:cNvSpPr>
          <p:nvPr>
            <p:ph type="dt" idx="22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ftr" idx="23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sldNum" idx="24"/>
          </p:nvPr>
        </p:nvSpPr>
        <p:spPr>
          <a:xfrm>
            <a:off x="9348840" y="647280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137D17-9317-4776-B85F-FA8ACAEA21C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2" descr="TAB_col_white_background.eps"/>
          <p:cNvPicPr/>
          <p:nvPr/>
        </p:nvPicPr>
        <p:blipFill>
          <a:blip r:embed="rId2"/>
          <a:stretch/>
        </p:blipFill>
        <p:spPr>
          <a:xfrm>
            <a:off x="523800" y="509760"/>
            <a:ext cx="1663200" cy="711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401076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rgbClr val="7800A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rgbClr val="7800A2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2000" b="1" u="none" strike="noStrike">
              <a:solidFill>
                <a:srgbClr val="7800A2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766760" y="272880"/>
            <a:ext cx="681516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609480" y="1434960"/>
            <a:ext cx="401076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dt" idx="25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ftr" idx="26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6"/>
          <p:cNvSpPr>
            <a:spLocks noGrp="1"/>
          </p:cNvSpPr>
          <p:nvPr>
            <p:ph type="sldNum" idx="27"/>
          </p:nvPr>
        </p:nvSpPr>
        <p:spPr>
          <a:xfrm>
            <a:off x="9348840" y="647280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B749D4C-8AD3-45D9-BD06-92826970334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TAB_col_white_background.eps"/>
          <p:cNvPicPr/>
          <p:nvPr/>
        </p:nvPicPr>
        <p:blipFill>
          <a:blip r:embed="rId2"/>
          <a:stretch/>
        </p:blipFill>
        <p:spPr>
          <a:xfrm>
            <a:off x="523800" y="509760"/>
            <a:ext cx="1663200" cy="711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2389680" y="4800600"/>
            <a:ext cx="73148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rgbClr val="7800A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rgbClr val="7800A2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2000" b="1" u="none" strike="noStrike">
              <a:solidFill>
                <a:srgbClr val="7800A2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2389680" y="612720"/>
            <a:ext cx="73148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icon to add picture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2389680" y="5367240"/>
            <a:ext cx="73148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dt" idx="28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ftr" idx="29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sldNum" idx="30"/>
          </p:nvPr>
        </p:nvSpPr>
        <p:spPr>
          <a:xfrm>
            <a:off x="9348840" y="647280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C158F04-9B59-4C52-8BD3-8331BD8E6B6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and sub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7" descr="logo-ltr.tif"/>
          <p:cNvPicPr/>
          <p:nvPr/>
        </p:nvPicPr>
        <p:blipFill>
          <a:blip r:embed="rId2"/>
          <a:stretch/>
        </p:blipFill>
        <p:spPr>
          <a:xfrm>
            <a:off x="334440" y="312120"/>
            <a:ext cx="2592720" cy="56304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70" name="Straight Connector 8"/>
          <p:cNvCxnSpPr/>
          <p:nvPr/>
        </p:nvCxnSpPr>
        <p:spPr>
          <a:xfrm>
            <a:off x="334080" y="1079280"/>
            <a:ext cx="11523600" cy="360"/>
          </a:xfrm>
          <a:prstGeom prst="straightConnector1">
            <a:avLst/>
          </a:prstGeom>
          <a:ln w="19050">
            <a:solidFill>
              <a:srgbClr val="FFFFFF">
                <a:lumMod val="50000"/>
              </a:srgbClr>
            </a:solidFill>
            <a:prstDash val="sysDot"/>
            <a:round/>
          </a:ln>
        </p:spPr>
      </p:cxnSp>
      <p:cxnSp>
        <p:nvCxnSpPr>
          <p:cNvPr id="71" name="Straight Connector 9"/>
          <p:cNvCxnSpPr/>
          <p:nvPr/>
        </p:nvCxnSpPr>
        <p:spPr>
          <a:xfrm>
            <a:off x="334080" y="6165720"/>
            <a:ext cx="11523600" cy="360"/>
          </a:xfrm>
          <a:prstGeom prst="straightConnector1">
            <a:avLst/>
          </a:prstGeom>
          <a:ln w="19050">
            <a:solidFill>
              <a:srgbClr val="FFFFFF">
                <a:lumMod val="50000"/>
              </a:srgbClr>
            </a:solidFill>
            <a:prstDash val="sysDot"/>
            <a:round/>
          </a:ln>
        </p:spPr>
      </p:cxnSp>
      <p:pic>
        <p:nvPicPr>
          <p:cNvPr id="72" name="Picture 11" descr="address.gif"/>
          <p:cNvPicPr/>
          <p:nvPr/>
        </p:nvPicPr>
        <p:blipFill>
          <a:blip r:embed="rId3"/>
          <a:stretch/>
        </p:blipFill>
        <p:spPr>
          <a:xfrm>
            <a:off x="9867960" y="6237360"/>
            <a:ext cx="1989360" cy="34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" name="Picture 2"/>
          <p:cNvPicPr/>
          <p:nvPr/>
        </p:nvPicPr>
        <p:blipFill>
          <a:blip r:embed="rId4"/>
          <a:stretch/>
        </p:blipFill>
        <p:spPr>
          <a:xfrm>
            <a:off x="10315440" y="234000"/>
            <a:ext cx="1338840" cy="744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Picture 2"/>
          <p:cNvPicPr/>
          <p:nvPr/>
        </p:nvPicPr>
        <p:blipFill>
          <a:blip r:embed="rId5"/>
          <a:stretch/>
        </p:blipFill>
        <p:spPr>
          <a:xfrm>
            <a:off x="3652920" y="476640"/>
            <a:ext cx="2783520" cy="453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" name="Picture 3"/>
          <p:cNvPicPr/>
          <p:nvPr/>
        </p:nvPicPr>
        <p:blipFill>
          <a:blip r:embed="rId6"/>
          <a:stretch/>
        </p:blipFill>
        <p:spPr>
          <a:xfrm>
            <a:off x="7152120" y="253800"/>
            <a:ext cx="2399760" cy="654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Picture 7" descr="logo-ltr.tif"/>
          <p:cNvPicPr/>
          <p:nvPr/>
        </p:nvPicPr>
        <p:blipFill>
          <a:blip r:embed="rId7"/>
          <a:stretch/>
        </p:blipFill>
        <p:spPr>
          <a:xfrm>
            <a:off x="344520" y="324720"/>
            <a:ext cx="2592720" cy="56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Rectangle 4"/>
          <p:cNvSpPr/>
          <p:nvPr/>
        </p:nvSpPr>
        <p:spPr>
          <a:xfrm>
            <a:off x="9867960" y="6237360"/>
            <a:ext cx="1989360" cy="34272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GB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8" name="Picture 1"/>
          <p:cNvPicPr/>
          <p:nvPr/>
        </p:nvPicPr>
        <p:blipFill>
          <a:blip r:embed="rId8"/>
          <a:stretch/>
        </p:blipFill>
        <p:spPr>
          <a:xfrm>
            <a:off x="10128600" y="6207480"/>
            <a:ext cx="1343520" cy="40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335520" y="1845000"/>
            <a:ext cx="11521080" cy="14695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b">
            <a:normAutofit/>
          </a:bodyPr>
          <a:lstStyle>
            <a:lvl1pPr indent="0" algn="l">
              <a:lnSpc>
                <a:spcPct val="100000"/>
              </a:lnSpc>
              <a:buNone/>
              <a:defRPr lang="en-US" sz="3600" b="0" u="none" strike="noStrike">
                <a:solidFill>
                  <a:srgbClr val="9A1D2B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rgbClr val="9A1D2B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600" b="0" u="none" strike="noStrike">
              <a:solidFill>
                <a:srgbClr val="9A1D2B"/>
              </a:solidFill>
              <a:effectLst/>
              <a:uFillTx/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ftr" idx="31"/>
          </p:nvPr>
        </p:nvSpPr>
        <p:spPr>
          <a:xfrm>
            <a:off x="335520" y="6165360"/>
            <a:ext cx="2851560" cy="4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7" descr="logo-ltr.tif"/>
          <p:cNvPicPr/>
          <p:nvPr/>
        </p:nvPicPr>
        <p:blipFill>
          <a:blip r:embed="rId2"/>
          <a:stretch/>
        </p:blipFill>
        <p:spPr>
          <a:xfrm>
            <a:off x="334440" y="312120"/>
            <a:ext cx="2592720" cy="56304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82" name="Straight Connector 8"/>
          <p:cNvCxnSpPr/>
          <p:nvPr/>
        </p:nvCxnSpPr>
        <p:spPr>
          <a:xfrm>
            <a:off x="334080" y="1079280"/>
            <a:ext cx="11523600" cy="360"/>
          </a:xfrm>
          <a:prstGeom prst="straightConnector1">
            <a:avLst/>
          </a:prstGeom>
          <a:ln w="19050">
            <a:solidFill>
              <a:srgbClr val="FFFFFF">
                <a:lumMod val="50000"/>
              </a:srgbClr>
            </a:solidFill>
            <a:prstDash val="sysDot"/>
            <a:round/>
          </a:ln>
        </p:spPr>
      </p:cxnSp>
      <p:cxnSp>
        <p:nvCxnSpPr>
          <p:cNvPr id="83" name="Straight Connector 9"/>
          <p:cNvCxnSpPr/>
          <p:nvPr/>
        </p:nvCxnSpPr>
        <p:spPr>
          <a:xfrm>
            <a:off x="334080" y="6165720"/>
            <a:ext cx="11523600" cy="360"/>
          </a:xfrm>
          <a:prstGeom prst="straightConnector1">
            <a:avLst/>
          </a:prstGeom>
          <a:ln w="19050">
            <a:solidFill>
              <a:srgbClr val="FFFFFF">
                <a:lumMod val="50000"/>
              </a:srgbClr>
            </a:solidFill>
            <a:prstDash val="sysDot"/>
            <a:round/>
          </a:ln>
        </p:spPr>
      </p:cxnSp>
      <p:pic>
        <p:nvPicPr>
          <p:cNvPr id="84" name="Picture 11" descr="address.gif"/>
          <p:cNvPicPr/>
          <p:nvPr/>
        </p:nvPicPr>
        <p:blipFill>
          <a:blip r:embed="rId3"/>
          <a:stretch/>
        </p:blipFill>
        <p:spPr>
          <a:xfrm>
            <a:off x="9867960" y="6237360"/>
            <a:ext cx="1989360" cy="34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" name="Picture 2"/>
          <p:cNvPicPr/>
          <p:nvPr/>
        </p:nvPicPr>
        <p:blipFill>
          <a:blip r:embed="rId4"/>
          <a:stretch/>
        </p:blipFill>
        <p:spPr>
          <a:xfrm>
            <a:off x="10315440" y="234000"/>
            <a:ext cx="1338840" cy="744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" name="Picture 2"/>
          <p:cNvPicPr/>
          <p:nvPr/>
        </p:nvPicPr>
        <p:blipFill>
          <a:blip r:embed="rId5"/>
          <a:stretch/>
        </p:blipFill>
        <p:spPr>
          <a:xfrm>
            <a:off x="3652920" y="476640"/>
            <a:ext cx="2783520" cy="453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" name="Picture 3"/>
          <p:cNvPicPr/>
          <p:nvPr/>
        </p:nvPicPr>
        <p:blipFill>
          <a:blip r:embed="rId6"/>
          <a:stretch/>
        </p:blipFill>
        <p:spPr>
          <a:xfrm>
            <a:off x="7152120" y="253800"/>
            <a:ext cx="2399760" cy="654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8" name="Picture 7" descr="logo-ltr.tif"/>
          <p:cNvPicPr/>
          <p:nvPr/>
        </p:nvPicPr>
        <p:blipFill>
          <a:blip r:embed="rId7"/>
          <a:stretch/>
        </p:blipFill>
        <p:spPr>
          <a:xfrm>
            <a:off x="344520" y="324720"/>
            <a:ext cx="2592720" cy="56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" name="Rectangle 4"/>
          <p:cNvSpPr/>
          <p:nvPr/>
        </p:nvSpPr>
        <p:spPr>
          <a:xfrm>
            <a:off x="9867960" y="6237360"/>
            <a:ext cx="1989360" cy="34272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GB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90" name="Picture 1"/>
          <p:cNvPicPr/>
          <p:nvPr/>
        </p:nvPicPr>
        <p:blipFill>
          <a:blip r:embed="rId8"/>
          <a:stretch/>
        </p:blipFill>
        <p:spPr>
          <a:xfrm>
            <a:off x="10128600" y="6207480"/>
            <a:ext cx="1343520" cy="40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335520" y="1196640"/>
            <a:ext cx="11521080" cy="575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b">
            <a:normAutofit lnSpcReduction="9999"/>
          </a:bodyPr>
          <a:lstStyle>
            <a:lvl1pPr indent="0" algn="l">
              <a:lnSpc>
                <a:spcPct val="100000"/>
              </a:lnSpc>
              <a:buNone/>
              <a:defRPr lang="en-US" sz="3200" b="0" u="none" strike="noStrike">
                <a:solidFill>
                  <a:srgbClr val="9A1D2B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US" sz="3200" b="0" u="none" strike="noStrike">
                <a:solidFill>
                  <a:srgbClr val="9A1D2B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200" b="0" u="none" strike="noStrike">
              <a:solidFill>
                <a:srgbClr val="9A1D2B"/>
              </a:solidFill>
              <a:effectLst/>
              <a:uFillTx/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335520" y="1917000"/>
            <a:ext cx="11521080" cy="4209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algn="l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561"/>
              </a:spcBef>
              <a:buClr>
                <a:srgbClr val="BF2F37"/>
              </a:buClr>
              <a:buFont typeface="Arial"/>
              <a:buChar char="•"/>
              <a:defRPr lang="en-US" sz="2800" b="0" u="none" strike="noStrike">
                <a:solidFill>
                  <a:srgbClr val="BF2F37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>
              <a:lnSpc>
                <a:spcPct val="100000"/>
              </a:lnSpc>
              <a:spcBef>
                <a:spcPts val="561"/>
              </a:spcBef>
              <a:buClr>
                <a:srgbClr val="BF2F37"/>
              </a:buClr>
              <a:buFont typeface="Arial"/>
              <a:buChar char="•"/>
            </a:pPr>
            <a:r>
              <a:rPr lang="en-US" sz="2800" b="0" u="none" strike="noStrike">
                <a:solidFill>
                  <a:srgbClr val="BF2F37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rgbClr val="BF2F37"/>
              </a:solidFill>
              <a:effectLst/>
              <a:uFillTx/>
              <a:latin typeface="Calibri"/>
            </a:endParaRPr>
          </a:p>
          <a:p>
            <a:pPr marL="1143000" lvl="2" indent="-228600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ftr" idx="32"/>
          </p:nvPr>
        </p:nvSpPr>
        <p:spPr>
          <a:xfrm>
            <a:off x="335520" y="6165360"/>
            <a:ext cx="2851560" cy="4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7" descr="logo-ltr.tif"/>
          <p:cNvPicPr/>
          <p:nvPr/>
        </p:nvPicPr>
        <p:blipFill>
          <a:blip r:embed="rId2"/>
          <a:stretch/>
        </p:blipFill>
        <p:spPr>
          <a:xfrm>
            <a:off x="334440" y="312120"/>
            <a:ext cx="2592720" cy="56304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95" name="Straight Connector 8"/>
          <p:cNvCxnSpPr/>
          <p:nvPr/>
        </p:nvCxnSpPr>
        <p:spPr>
          <a:xfrm>
            <a:off x="334080" y="1079280"/>
            <a:ext cx="11523600" cy="360"/>
          </a:xfrm>
          <a:prstGeom prst="straightConnector1">
            <a:avLst/>
          </a:prstGeom>
          <a:ln w="19050">
            <a:solidFill>
              <a:srgbClr val="FFFFFF">
                <a:lumMod val="50000"/>
              </a:srgbClr>
            </a:solidFill>
            <a:prstDash val="sysDot"/>
            <a:round/>
          </a:ln>
        </p:spPr>
      </p:cxnSp>
      <p:cxnSp>
        <p:nvCxnSpPr>
          <p:cNvPr id="96" name="Straight Connector 9"/>
          <p:cNvCxnSpPr/>
          <p:nvPr/>
        </p:nvCxnSpPr>
        <p:spPr>
          <a:xfrm>
            <a:off x="334080" y="6165720"/>
            <a:ext cx="11523600" cy="360"/>
          </a:xfrm>
          <a:prstGeom prst="straightConnector1">
            <a:avLst/>
          </a:prstGeom>
          <a:ln w="19050">
            <a:solidFill>
              <a:srgbClr val="FFFFFF">
                <a:lumMod val="50000"/>
              </a:srgbClr>
            </a:solidFill>
            <a:prstDash val="sysDot"/>
            <a:round/>
          </a:ln>
        </p:spPr>
      </p:cxnSp>
      <p:pic>
        <p:nvPicPr>
          <p:cNvPr id="97" name="Picture 11" descr="address.gif"/>
          <p:cNvPicPr/>
          <p:nvPr/>
        </p:nvPicPr>
        <p:blipFill>
          <a:blip r:embed="rId3"/>
          <a:stretch/>
        </p:blipFill>
        <p:spPr>
          <a:xfrm>
            <a:off x="9867960" y="6237360"/>
            <a:ext cx="1989360" cy="34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8" name="Picture 2"/>
          <p:cNvPicPr/>
          <p:nvPr/>
        </p:nvPicPr>
        <p:blipFill>
          <a:blip r:embed="rId4"/>
          <a:stretch/>
        </p:blipFill>
        <p:spPr>
          <a:xfrm>
            <a:off x="10315440" y="234000"/>
            <a:ext cx="1338840" cy="744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9" name="Picture 2"/>
          <p:cNvPicPr/>
          <p:nvPr/>
        </p:nvPicPr>
        <p:blipFill>
          <a:blip r:embed="rId5"/>
          <a:stretch/>
        </p:blipFill>
        <p:spPr>
          <a:xfrm>
            <a:off x="3652920" y="476640"/>
            <a:ext cx="2783520" cy="453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" name="Picture 3"/>
          <p:cNvPicPr/>
          <p:nvPr/>
        </p:nvPicPr>
        <p:blipFill>
          <a:blip r:embed="rId6"/>
          <a:stretch/>
        </p:blipFill>
        <p:spPr>
          <a:xfrm>
            <a:off x="7152120" y="253800"/>
            <a:ext cx="2399760" cy="654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1" name="Picture 7" descr="logo-ltr.tif"/>
          <p:cNvPicPr/>
          <p:nvPr/>
        </p:nvPicPr>
        <p:blipFill>
          <a:blip r:embed="rId7"/>
          <a:stretch/>
        </p:blipFill>
        <p:spPr>
          <a:xfrm>
            <a:off x="344520" y="324720"/>
            <a:ext cx="2592720" cy="56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Rectangle 4"/>
          <p:cNvSpPr/>
          <p:nvPr/>
        </p:nvSpPr>
        <p:spPr>
          <a:xfrm>
            <a:off x="9867960" y="6237360"/>
            <a:ext cx="1989360" cy="34272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GB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3" name="Picture 1"/>
          <p:cNvPicPr/>
          <p:nvPr/>
        </p:nvPicPr>
        <p:blipFill>
          <a:blip r:embed="rId8"/>
          <a:stretch/>
        </p:blipFill>
        <p:spPr>
          <a:xfrm>
            <a:off x="10128600" y="6207480"/>
            <a:ext cx="1343520" cy="40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PlaceHolder 1"/>
          <p:cNvSpPr>
            <a:spLocks noGrp="1"/>
          </p:cNvSpPr>
          <p:nvPr>
            <p:ph type="body"/>
          </p:nvPr>
        </p:nvSpPr>
        <p:spPr>
          <a:xfrm>
            <a:off x="335520" y="1196640"/>
            <a:ext cx="11521080" cy="4929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algn="l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561"/>
              </a:spcBef>
              <a:buClr>
                <a:srgbClr val="BF2F37"/>
              </a:buClr>
              <a:buFont typeface="Arial"/>
              <a:buChar char="•"/>
              <a:defRPr lang="en-US" sz="2800" b="0" u="none" strike="noStrike">
                <a:solidFill>
                  <a:srgbClr val="BF2F37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>
              <a:lnSpc>
                <a:spcPct val="100000"/>
              </a:lnSpc>
              <a:spcBef>
                <a:spcPts val="561"/>
              </a:spcBef>
              <a:buClr>
                <a:srgbClr val="BF2F37"/>
              </a:buClr>
              <a:buFont typeface="Arial"/>
              <a:buChar char="•"/>
            </a:pPr>
            <a:r>
              <a:rPr lang="en-US" sz="2800" b="0" u="none" strike="noStrike">
                <a:solidFill>
                  <a:srgbClr val="BF2F37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rgbClr val="BF2F37"/>
              </a:solidFill>
              <a:effectLst/>
              <a:uFillTx/>
              <a:latin typeface="Calibri"/>
            </a:endParaRPr>
          </a:p>
          <a:p>
            <a:pPr marL="1143000" lvl="2" indent="-228600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ftr" idx="33"/>
          </p:nvPr>
        </p:nvSpPr>
        <p:spPr>
          <a:xfrm>
            <a:off x="335520" y="6165360"/>
            <a:ext cx="2851560" cy="4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 Colum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Picture 7" descr="logo-ltr.tif"/>
          <p:cNvPicPr/>
          <p:nvPr/>
        </p:nvPicPr>
        <p:blipFill>
          <a:blip r:embed="rId2"/>
          <a:stretch/>
        </p:blipFill>
        <p:spPr>
          <a:xfrm>
            <a:off x="334440" y="312120"/>
            <a:ext cx="2592720" cy="56304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07" name="Straight Connector 8"/>
          <p:cNvCxnSpPr/>
          <p:nvPr/>
        </p:nvCxnSpPr>
        <p:spPr>
          <a:xfrm>
            <a:off x="334080" y="1079280"/>
            <a:ext cx="11523600" cy="360"/>
          </a:xfrm>
          <a:prstGeom prst="straightConnector1">
            <a:avLst/>
          </a:prstGeom>
          <a:ln w="19050">
            <a:solidFill>
              <a:srgbClr val="FFFFFF">
                <a:lumMod val="50000"/>
              </a:srgbClr>
            </a:solidFill>
            <a:prstDash val="sysDot"/>
            <a:round/>
          </a:ln>
        </p:spPr>
      </p:cxnSp>
      <p:cxnSp>
        <p:nvCxnSpPr>
          <p:cNvPr id="108" name="Straight Connector 9"/>
          <p:cNvCxnSpPr/>
          <p:nvPr/>
        </p:nvCxnSpPr>
        <p:spPr>
          <a:xfrm>
            <a:off x="334080" y="6165720"/>
            <a:ext cx="11523600" cy="360"/>
          </a:xfrm>
          <a:prstGeom prst="straightConnector1">
            <a:avLst/>
          </a:prstGeom>
          <a:ln w="19050">
            <a:solidFill>
              <a:srgbClr val="FFFFFF">
                <a:lumMod val="50000"/>
              </a:srgbClr>
            </a:solidFill>
            <a:prstDash val="sysDot"/>
            <a:round/>
          </a:ln>
        </p:spPr>
      </p:cxnSp>
      <p:pic>
        <p:nvPicPr>
          <p:cNvPr id="109" name="Picture 11" descr="address.gif"/>
          <p:cNvPicPr/>
          <p:nvPr/>
        </p:nvPicPr>
        <p:blipFill>
          <a:blip r:embed="rId3"/>
          <a:stretch/>
        </p:blipFill>
        <p:spPr>
          <a:xfrm>
            <a:off x="9867960" y="6237360"/>
            <a:ext cx="1989360" cy="34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0" name="Picture 2"/>
          <p:cNvPicPr/>
          <p:nvPr/>
        </p:nvPicPr>
        <p:blipFill>
          <a:blip r:embed="rId4"/>
          <a:stretch/>
        </p:blipFill>
        <p:spPr>
          <a:xfrm>
            <a:off x="10315440" y="234000"/>
            <a:ext cx="1338840" cy="744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1" name="Picture 2"/>
          <p:cNvPicPr/>
          <p:nvPr/>
        </p:nvPicPr>
        <p:blipFill>
          <a:blip r:embed="rId5"/>
          <a:stretch/>
        </p:blipFill>
        <p:spPr>
          <a:xfrm>
            <a:off x="3652920" y="476640"/>
            <a:ext cx="2783520" cy="453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2" name="Picture 3"/>
          <p:cNvPicPr/>
          <p:nvPr/>
        </p:nvPicPr>
        <p:blipFill>
          <a:blip r:embed="rId6"/>
          <a:stretch/>
        </p:blipFill>
        <p:spPr>
          <a:xfrm>
            <a:off x="7152120" y="253800"/>
            <a:ext cx="2399760" cy="654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3" name="Picture 7" descr="logo-ltr.tif"/>
          <p:cNvPicPr/>
          <p:nvPr/>
        </p:nvPicPr>
        <p:blipFill>
          <a:blip r:embed="rId7"/>
          <a:stretch/>
        </p:blipFill>
        <p:spPr>
          <a:xfrm>
            <a:off x="344520" y="324720"/>
            <a:ext cx="2592720" cy="56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" name="Rectangle 4"/>
          <p:cNvSpPr/>
          <p:nvPr/>
        </p:nvSpPr>
        <p:spPr>
          <a:xfrm>
            <a:off x="9867960" y="6237360"/>
            <a:ext cx="1989360" cy="34272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GB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5" name="Picture 1"/>
          <p:cNvPicPr/>
          <p:nvPr/>
        </p:nvPicPr>
        <p:blipFill>
          <a:blip r:embed="rId8"/>
          <a:stretch/>
        </p:blipFill>
        <p:spPr>
          <a:xfrm>
            <a:off x="10128600" y="6207480"/>
            <a:ext cx="1343520" cy="40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PlaceHolder 1"/>
          <p:cNvSpPr>
            <a:spLocks noGrp="1"/>
          </p:cNvSpPr>
          <p:nvPr>
            <p:ph type="body"/>
          </p:nvPr>
        </p:nvSpPr>
        <p:spPr>
          <a:xfrm>
            <a:off x="609480" y="1412640"/>
            <a:ext cx="5384520" cy="4525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algn="l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479"/>
              </a:spcBef>
              <a:buClr>
                <a:srgbClr val="BF2F37"/>
              </a:buClr>
              <a:buFont typeface="Arial"/>
              <a:buChar char="•"/>
              <a:defRPr lang="en-US" sz="2400" b="0" u="none" strike="noStrike">
                <a:solidFill>
                  <a:srgbClr val="BF2F37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>
              <a:lnSpc>
                <a:spcPct val="100000"/>
              </a:lnSpc>
              <a:spcBef>
                <a:spcPts val="479"/>
              </a:spcBef>
              <a:buClr>
                <a:srgbClr val="BF2F37"/>
              </a:buClr>
              <a:buFont typeface="Arial"/>
              <a:buChar char="•"/>
            </a:pPr>
            <a:r>
              <a:rPr lang="en-US" sz="2400" b="0" u="none" strike="noStrike">
                <a:solidFill>
                  <a:srgbClr val="BF2F37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rgbClr val="BF2F37"/>
              </a:solidFill>
              <a:effectLst/>
              <a:uFillTx/>
              <a:latin typeface="Calibri"/>
            </a:endParaRPr>
          </a:p>
          <a:p>
            <a:pPr marL="1143000" lvl="2" indent="-22860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6197760" y="1412640"/>
            <a:ext cx="5384520" cy="4525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algn="l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479"/>
              </a:spcBef>
              <a:buClr>
                <a:srgbClr val="BF2F37"/>
              </a:buClr>
              <a:buFont typeface="Arial"/>
              <a:buChar char="•"/>
              <a:defRPr lang="en-US" sz="2400" b="0" u="none" strike="noStrike">
                <a:solidFill>
                  <a:srgbClr val="BF2F37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>
              <a:lnSpc>
                <a:spcPct val="100000"/>
              </a:lnSpc>
              <a:spcBef>
                <a:spcPts val="479"/>
              </a:spcBef>
              <a:buClr>
                <a:srgbClr val="BF2F37"/>
              </a:buClr>
              <a:buFont typeface="Arial"/>
              <a:buChar char="•"/>
            </a:pPr>
            <a:r>
              <a:rPr lang="en-US" sz="2400" b="0" u="none" strike="noStrike">
                <a:solidFill>
                  <a:srgbClr val="BF2F37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rgbClr val="BF2F37"/>
              </a:solidFill>
              <a:effectLst/>
              <a:uFillTx/>
              <a:latin typeface="Calibri"/>
            </a:endParaRPr>
          </a:p>
          <a:p>
            <a:pPr marL="1143000" lvl="2" indent="-22860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ftr" idx="34"/>
          </p:nvPr>
        </p:nvSpPr>
        <p:spPr>
          <a:xfrm>
            <a:off x="335520" y="6165360"/>
            <a:ext cx="2851560" cy="4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Picture 7" descr="logo-ltr.tif"/>
          <p:cNvPicPr/>
          <p:nvPr/>
        </p:nvPicPr>
        <p:blipFill>
          <a:blip r:embed="rId2"/>
          <a:stretch/>
        </p:blipFill>
        <p:spPr>
          <a:xfrm>
            <a:off x="334440" y="312120"/>
            <a:ext cx="2592720" cy="56304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20" name="Straight Connector 8"/>
          <p:cNvCxnSpPr/>
          <p:nvPr/>
        </p:nvCxnSpPr>
        <p:spPr>
          <a:xfrm>
            <a:off x="334080" y="1079280"/>
            <a:ext cx="11523600" cy="360"/>
          </a:xfrm>
          <a:prstGeom prst="straightConnector1">
            <a:avLst/>
          </a:prstGeom>
          <a:ln w="19050">
            <a:solidFill>
              <a:srgbClr val="FFFFFF">
                <a:lumMod val="50000"/>
              </a:srgbClr>
            </a:solidFill>
            <a:prstDash val="sysDot"/>
            <a:round/>
          </a:ln>
        </p:spPr>
      </p:cxnSp>
      <p:cxnSp>
        <p:nvCxnSpPr>
          <p:cNvPr id="121" name="Straight Connector 9"/>
          <p:cNvCxnSpPr/>
          <p:nvPr/>
        </p:nvCxnSpPr>
        <p:spPr>
          <a:xfrm>
            <a:off x="334080" y="6165720"/>
            <a:ext cx="11523600" cy="360"/>
          </a:xfrm>
          <a:prstGeom prst="straightConnector1">
            <a:avLst/>
          </a:prstGeom>
          <a:ln w="19050">
            <a:solidFill>
              <a:srgbClr val="FFFFFF">
                <a:lumMod val="50000"/>
              </a:srgbClr>
            </a:solidFill>
            <a:prstDash val="sysDot"/>
            <a:round/>
          </a:ln>
        </p:spPr>
      </p:cxnSp>
      <p:pic>
        <p:nvPicPr>
          <p:cNvPr id="122" name="Picture 11" descr="address.gif"/>
          <p:cNvPicPr/>
          <p:nvPr/>
        </p:nvPicPr>
        <p:blipFill>
          <a:blip r:embed="rId3"/>
          <a:stretch/>
        </p:blipFill>
        <p:spPr>
          <a:xfrm>
            <a:off x="9867960" y="6237360"/>
            <a:ext cx="1989360" cy="34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" name="Picture 2"/>
          <p:cNvPicPr/>
          <p:nvPr/>
        </p:nvPicPr>
        <p:blipFill>
          <a:blip r:embed="rId4"/>
          <a:stretch/>
        </p:blipFill>
        <p:spPr>
          <a:xfrm>
            <a:off x="10315440" y="234000"/>
            <a:ext cx="1338840" cy="744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" name="Picture 2"/>
          <p:cNvPicPr/>
          <p:nvPr/>
        </p:nvPicPr>
        <p:blipFill>
          <a:blip r:embed="rId5"/>
          <a:stretch/>
        </p:blipFill>
        <p:spPr>
          <a:xfrm>
            <a:off x="3652920" y="476640"/>
            <a:ext cx="2783520" cy="453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" name="Picture 3"/>
          <p:cNvPicPr/>
          <p:nvPr/>
        </p:nvPicPr>
        <p:blipFill>
          <a:blip r:embed="rId6"/>
          <a:stretch/>
        </p:blipFill>
        <p:spPr>
          <a:xfrm>
            <a:off x="7152120" y="253800"/>
            <a:ext cx="2399760" cy="654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6" name="Picture 7" descr="logo-ltr.tif"/>
          <p:cNvPicPr/>
          <p:nvPr/>
        </p:nvPicPr>
        <p:blipFill>
          <a:blip r:embed="rId7"/>
          <a:stretch/>
        </p:blipFill>
        <p:spPr>
          <a:xfrm>
            <a:off x="344520" y="324720"/>
            <a:ext cx="2592720" cy="56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Rectangle 4"/>
          <p:cNvSpPr/>
          <p:nvPr/>
        </p:nvSpPr>
        <p:spPr>
          <a:xfrm>
            <a:off x="9867960" y="6237360"/>
            <a:ext cx="1989360" cy="34272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GB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28" name="Picture 1"/>
          <p:cNvPicPr/>
          <p:nvPr/>
        </p:nvPicPr>
        <p:blipFill>
          <a:blip r:embed="rId8"/>
          <a:stretch/>
        </p:blipFill>
        <p:spPr>
          <a:xfrm>
            <a:off x="10128600" y="6207480"/>
            <a:ext cx="1343520" cy="40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PlaceHolder 1"/>
          <p:cNvSpPr>
            <a:spLocks noGrp="1"/>
          </p:cNvSpPr>
          <p:nvPr>
            <p:ph type="body"/>
          </p:nvPr>
        </p:nvSpPr>
        <p:spPr>
          <a:xfrm>
            <a:off x="2389680" y="1268640"/>
            <a:ext cx="7314840" cy="4176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icon to add picture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2389680" y="5445360"/>
            <a:ext cx="7314840" cy="654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ftr" idx="35"/>
          </p:nvPr>
        </p:nvSpPr>
        <p:spPr>
          <a:xfrm>
            <a:off x="335520" y="6165360"/>
            <a:ext cx="2851560" cy="4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Picture 7" descr="logo-ltr.tif"/>
          <p:cNvPicPr/>
          <p:nvPr/>
        </p:nvPicPr>
        <p:blipFill>
          <a:blip r:embed="rId2"/>
          <a:stretch/>
        </p:blipFill>
        <p:spPr>
          <a:xfrm>
            <a:off x="334440" y="312120"/>
            <a:ext cx="2592720" cy="56304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33" name="Straight Connector 8"/>
          <p:cNvCxnSpPr/>
          <p:nvPr/>
        </p:nvCxnSpPr>
        <p:spPr>
          <a:xfrm>
            <a:off x="334080" y="1079280"/>
            <a:ext cx="11523600" cy="360"/>
          </a:xfrm>
          <a:prstGeom prst="straightConnector1">
            <a:avLst/>
          </a:prstGeom>
          <a:ln w="19050">
            <a:solidFill>
              <a:srgbClr val="FFFFFF">
                <a:lumMod val="50000"/>
              </a:srgbClr>
            </a:solidFill>
            <a:prstDash val="sysDot"/>
            <a:round/>
          </a:ln>
        </p:spPr>
      </p:cxnSp>
      <p:cxnSp>
        <p:nvCxnSpPr>
          <p:cNvPr id="134" name="Straight Connector 9"/>
          <p:cNvCxnSpPr/>
          <p:nvPr/>
        </p:nvCxnSpPr>
        <p:spPr>
          <a:xfrm>
            <a:off x="334080" y="6165720"/>
            <a:ext cx="11523600" cy="360"/>
          </a:xfrm>
          <a:prstGeom prst="straightConnector1">
            <a:avLst/>
          </a:prstGeom>
          <a:ln w="19050">
            <a:solidFill>
              <a:srgbClr val="FFFFFF">
                <a:lumMod val="50000"/>
              </a:srgbClr>
            </a:solidFill>
            <a:prstDash val="sysDot"/>
            <a:round/>
          </a:ln>
        </p:spPr>
      </p:cxnSp>
      <p:pic>
        <p:nvPicPr>
          <p:cNvPr id="135" name="Picture 11" descr="address.gif"/>
          <p:cNvPicPr/>
          <p:nvPr/>
        </p:nvPicPr>
        <p:blipFill>
          <a:blip r:embed="rId3"/>
          <a:stretch/>
        </p:blipFill>
        <p:spPr>
          <a:xfrm>
            <a:off x="9867960" y="6237360"/>
            <a:ext cx="1989360" cy="34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6" name="Picture 2"/>
          <p:cNvPicPr/>
          <p:nvPr/>
        </p:nvPicPr>
        <p:blipFill>
          <a:blip r:embed="rId4"/>
          <a:stretch/>
        </p:blipFill>
        <p:spPr>
          <a:xfrm>
            <a:off x="10315440" y="234000"/>
            <a:ext cx="1338840" cy="744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7" name="Picture 2"/>
          <p:cNvPicPr/>
          <p:nvPr/>
        </p:nvPicPr>
        <p:blipFill>
          <a:blip r:embed="rId5"/>
          <a:stretch/>
        </p:blipFill>
        <p:spPr>
          <a:xfrm>
            <a:off x="3652920" y="476640"/>
            <a:ext cx="2783520" cy="453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8" name="Picture 3"/>
          <p:cNvPicPr/>
          <p:nvPr/>
        </p:nvPicPr>
        <p:blipFill>
          <a:blip r:embed="rId6"/>
          <a:stretch/>
        </p:blipFill>
        <p:spPr>
          <a:xfrm>
            <a:off x="7152120" y="253800"/>
            <a:ext cx="2399760" cy="654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9" name="Picture 7" descr="logo-ltr.tif"/>
          <p:cNvPicPr/>
          <p:nvPr/>
        </p:nvPicPr>
        <p:blipFill>
          <a:blip r:embed="rId7"/>
          <a:stretch/>
        </p:blipFill>
        <p:spPr>
          <a:xfrm>
            <a:off x="344520" y="324720"/>
            <a:ext cx="2592720" cy="56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0" name="Rectangle 4"/>
          <p:cNvSpPr/>
          <p:nvPr/>
        </p:nvSpPr>
        <p:spPr>
          <a:xfrm>
            <a:off x="9867960" y="6237360"/>
            <a:ext cx="1989360" cy="34272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GB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41" name="Picture 1"/>
          <p:cNvPicPr/>
          <p:nvPr/>
        </p:nvPicPr>
        <p:blipFill>
          <a:blip r:embed="rId8"/>
          <a:stretch/>
        </p:blipFill>
        <p:spPr>
          <a:xfrm>
            <a:off x="10128600" y="6207480"/>
            <a:ext cx="1343520" cy="40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2" name="PlaceHolder 1"/>
          <p:cNvSpPr>
            <a:spLocks noGrp="1"/>
          </p:cNvSpPr>
          <p:nvPr>
            <p:ph type="ftr" idx="36"/>
          </p:nvPr>
        </p:nvSpPr>
        <p:spPr>
          <a:xfrm>
            <a:off x="335520" y="6165360"/>
            <a:ext cx="2851560" cy="4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gif"/><Relationship Id="rId3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resentation title 2"/>
          <p:cNvSpPr/>
          <p:nvPr/>
        </p:nvSpPr>
        <p:spPr>
          <a:xfrm>
            <a:off x="457200" y="1920240"/>
            <a:ext cx="89607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700" b="1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A Brain-Computer Interface Control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700" b="1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System Design Based on Deep Learning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Accent 3"/>
          <p:cNvSpPr/>
          <p:nvPr/>
        </p:nvSpPr>
        <p:spPr>
          <a:xfrm>
            <a:off x="502920" y="3657600"/>
            <a:ext cx="9783720" cy="22680"/>
          </a:xfrm>
          <a:prstGeom prst="rect">
            <a:avLst/>
          </a:prstGeom>
          <a:solidFill>
            <a:srgbClr val="66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1960" rIns="90000" bIns="-219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Presentation subtitle 4"/>
          <p:cNvSpPr/>
          <p:nvPr/>
        </p:nvSpPr>
        <p:spPr>
          <a:xfrm>
            <a:off x="502920" y="4343400"/>
            <a:ext cx="69490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595959"/>
                </a:solidFill>
                <a:effectLst/>
                <a:uFillTx/>
                <a:latin typeface="Arial"/>
              </a:rPr>
              <a:t>Third Year Individual Project Final Presentation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50" b="0" u="none" strike="noStrike">
                <a:solidFill>
                  <a:srgbClr val="595959"/>
                </a:solidFill>
                <a:effectLst/>
                <a:uFillTx/>
                <a:latin typeface="Arial"/>
              </a:rPr>
              <a:t>Zheng Xu | Student ID: 11314389 | Supervisor: Alex Casson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595959"/>
                </a:solidFill>
                <a:effectLst/>
                <a:uFillTx/>
                <a:latin typeface="Arial"/>
              </a:rPr>
              <a:t>May 2026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age number 5"/>
          <p:cNvSpPr/>
          <p:nvPr/>
        </p:nvSpPr>
        <p:spPr>
          <a:xfrm>
            <a:off x="11109960" y="6473880"/>
            <a:ext cx="685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</a:pPr>
            <a:r>
              <a:rPr lang="en-US" sz="92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1 / 16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lide title 2"/>
          <p:cNvSpPr/>
          <p:nvPr/>
        </p:nvSpPr>
        <p:spPr>
          <a:xfrm>
            <a:off x="411480" y="1207080"/>
            <a:ext cx="76806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500" b="1" u="none" strike="noStrike">
                <a:solidFill>
                  <a:srgbClr val="111111"/>
                </a:solidFill>
                <a:effectLst/>
                <a:uFillTx/>
                <a:latin typeface="Arial"/>
              </a:rPr>
              <a:t>Objective of This Presentation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Accent 3"/>
          <p:cNvSpPr/>
          <p:nvPr/>
        </p:nvSpPr>
        <p:spPr>
          <a:xfrm>
            <a:off x="411480" y="1810440"/>
            <a:ext cx="10058040" cy="22680"/>
          </a:xfrm>
          <a:prstGeom prst="rect">
            <a:avLst/>
          </a:prstGeom>
          <a:solidFill>
            <a:srgbClr val="66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1960" rIns="90000" bIns="-219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Stat 4"/>
          <p:cNvSpPr/>
          <p:nvPr/>
        </p:nvSpPr>
        <p:spPr>
          <a:xfrm>
            <a:off x="594360" y="2331720"/>
            <a:ext cx="594000" cy="65808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660099"/>
                </a:solidFill>
                <a:effectLst/>
                <a:uFillTx/>
                <a:latin typeface="Arial"/>
              </a:rPr>
              <a:t>1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5"/>
          <p:cNvSpPr/>
          <p:nvPr/>
        </p:nvSpPr>
        <p:spPr>
          <a:xfrm>
            <a:off x="1371600" y="2377440"/>
            <a:ext cx="43887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550" b="1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Why MI-BCI robotic control is difficult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tat 6"/>
          <p:cNvSpPr/>
          <p:nvPr/>
        </p:nvSpPr>
        <p:spPr>
          <a:xfrm>
            <a:off x="6172200" y="2331720"/>
            <a:ext cx="594000" cy="65808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660099"/>
                </a:solidFill>
                <a:effectLst/>
                <a:uFillTx/>
                <a:latin typeface="Arial"/>
              </a:rPr>
              <a:t>2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7"/>
          <p:cNvSpPr/>
          <p:nvPr/>
        </p:nvSpPr>
        <p:spPr>
          <a:xfrm>
            <a:off x="6949440" y="2377440"/>
            <a:ext cx="43887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550" b="1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Which datasets and methods were selected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tat 8"/>
          <p:cNvSpPr/>
          <p:nvPr/>
        </p:nvSpPr>
        <p:spPr>
          <a:xfrm>
            <a:off x="594360" y="3383280"/>
            <a:ext cx="594000" cy="65808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660099"/>
                </a:solidFill>
                <a:effectLst/>
                <a:uFillTx/>
                <a:latin typeface="Arial"/>
              </a:rPr>
              <a:t>3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9"/>
          <p:cNvSpPr/>
          <p:nvPr/>
        </p:nvSpPr>
        <p:spPr>
          <a:xfrm>
            <a:off x="1371600" y="3429000"/>
            <a:ext cx="43887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550" b="1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How the EEGTransformer decoder works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tat 10"/>
          <p:cNvSpPr/>
          <p:nvPr/>
        </p:nvSpPr>
        <p:spPr>
          <a:xfrm>
            <a:off x="6172200" y="3383280"/>
            <a:ext cx="594000" cy="65808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660099"/>
                </a:solidFill>
                <a:effectLst/>
                <a:uFillTx/>
                <a:latin typeface="Arial"/>
              </a:rPr>
              <a:t>4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1"/>
          <p:cNvSpPr/>
          <p:nvPr/>
        </p:nvSpPr>
        <p:spPr>
          <a:xfrm>
            <a:off x="6949440" y="3429000"/>
            <a:ext cx="43887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550" b="1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How channel reduction supports OpenBCI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tat 12"/>
          <p:cNvSpPr/>
          <p:nvPr/>
        </p:nvSpPr>
        <p:spPr>
          <a:xfrm>
            <a:off x="594360" y="4434840"/>
            <a:ext cx="594000" cy="65808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660099"/>
                </a:solidFill>
                <a:effectLst/>
                <a:uFillTx/>
                <a:latin typeface="Arial"/>
              </a:rPr>
              <a:t>5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3"/>
          <p:cNvSpPr/>
          <p:nvPr/>
        </p:nvSpPr>
        <p:spPr>
          <a:xfrm>
            <a:off x="1371600" y="4480560"/>
            <a:ext cx="43887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550" b="1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How DQN closes the control loop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tat 14"/>
          <p:cNvSpPr/>
          <p:nvPr/>
        </p:nvSpPr>
        <p:spPr>
          <a:xfrm>
            <a:off x="6172200" y="4434840"/>
            <a:ext cx="594000" cy="65808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660099"/>
                </a:solidFill>
                <a:effectLst/>
                <a:uFillTx/>
                <a:latin typeface="Arial"/>
              </a:rPr>
              <a:t>6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5"/>
          <p:cNvSpPr/>
          <p:nvPr/>
        </p:nvSpPr>
        <p:spPr>
          <a:xfrm>
            <a:off x="6949440" y="4480560"/>
            <a:ext cx="43887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550" b="1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What the results, limits, and next steps show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6"/>
          <p:cNvSpPr/>
          <p:nvPr/>
        </p:nvSpPr>
        <p:spPr>
          <a:xfrm>
            <a:off x="594360" y="5504760"/>
            <a:ext cx="10560960" cy="438480"/>
          </a:xfrm>
          <a:prstGeom prst="rect">
            <a:avLst/>
          </a:prstGeom>
          <a:solidFill>
            <a:srgbClr val="F4EFF8"/>
          </a:solidFill>
          <a:ln w="9525">
            <a:solidFill>
              <a:srgbClr val="DDD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3080" tIns="73080" rIns="73080" bIns="7308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550" b="1" u="none" strike="noStrike">
                <a:solidFill>
                  <a:srgbClr val="660099"/>
                </a:solidFill>
                <a:effectLst/>
                <a:uFillTx/>
                <a:latin typeface="Arial"/>
              </a:rPr>
              <a:t>Main message: the contribution is an integrated decoder -&gt; controller -&gt; deployment-oriented pipeline.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Page number 8"/>
          <p:cNvSpPr/>
          <p:nvPr/>
        </p:nvSpPr>
        <p:spPr>
          <a:xfrm>
            <a:off x="11109960" y="6473880"/>
            <a:ext cx="685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</a:pPr>
            <a:r>
              <a:rPr lang="en-US" sz="92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2 / 16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lide title 2"/>
          <p:cNvSpPr/>
          <p:nvPr/>
        </p:nvSpPr>
        <p:spPr>
          <a:xfrm>
            <a:off x="411480" y="1207080"/>
            <a:ext cx="76806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500" b="1" u="none" strike="noStrike">
                <a:solidFill>
                  <a:srgbClr val="111111"/>
                </a:solidFill>
                <a:effectLst/>
                <a:uFillTx/>
                <a:latin typeface="Arial"/>
              </a:rPr>
              <a:t>Project Aim and Problem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Accent 3"/>
          <p:cNvSpPr/>
          <p:nvPr/>
        </p:nvSpPr>
        <p:spPr>
          <a:xfrm>
            <a:off x="411480" y="1810440"/>
            <a:ext cx="10058040" cy="22680"/>
          </a:xfrm>
          <a:prstGeom prst="rect">
            <a:avLst/>
          </a:prstGeom>
          <a:solidFill>
            <a:srgbClr val="66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1960" rIns="90000" bIns="-219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4"/>
          <p:cNvSpPr/>
          <p:nvPr/>
        </p:nvSpPr>
        <p:spPr>
          <a:xfrm>
            <a:off x="594360" y="2212920"/>
            <a:ext cx="3748680" cy="86832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3080" tIns="73080" rIns="73080" bIns="7308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600" b="1" u="none" strike="noStrike">
                <a:solidFill>
                  <a:srgbClr val="660099"/>
                </a:solidFill>
                <a:effectLst/>
                <a:uFillTx/>
                <a:latin typeface="Arial"/>
              </a:rPr>
              <a:t>Project aim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Translate motor-imagery EEG into robotic arm commands using deep learning and reinforcement learning.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tat 5"/>
          <p:cNvSpPr/>
          <p:nvPr/>
        </p:nvSpPr>
        <p:spPr>
          <a:xfrm>
            <a:off x="594360" y="3493080"/>
            <a:ext cx="914040" cy="65808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B03A2E"/>
                </a:solidFill>
                <a:effectLst/>
                <a:uFillTx/>
                <a:latin typeface="Arial"/>
              </a:rPr>
              <a:t>1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6"/>
          <p:cNvSpPr/>
          <p:nvPr/>
        </p:nvSpPr>
        <p:spPr>
          <a:xfrm>
            <a:off x="1618560" y="3447360"/>
            <a:ext cx="2514240" cy="932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3080" tIns="73080" rIns="73080" bIns="7308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450" b="1" u="none" strike="noStrike">
                <a:solidFill>
                  <a:srgbClr val="B03A2E"/>
                </a:solidFill>
                <a:effectLst/>
                <a:uFillTx/>
                <a:latin typeface="Arial"/>
              </a:rPr>
              <a:t>Non-stationary EEG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22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Different users and sessions shift the signal distribution.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tat 7"/>
          <p:cNvSpPr/>
          <p:nvPr/>
        </p:nvSpPr>
        <p:spPr>
          <a:xfrm>
            <a:off x="4389120" y="3493080"/>
            <a:ext cx="914040" cy="65808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C55A11"/>
                </a:solidFill>
                <a:effectLst/>
                <a:uFillTx/>
                <a:latin typeface="Arial"/>
              </a:rPr>
              <a:t>2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8"/>
          <p:cNvSpPr/>
          <p:nvPr/>
        </p:nvSpPr>
        <p:spPr>
          <a:xfrm>
            <a:off x="5413320" y="3447360"/>
            <a:ext cx="2514240" cy="932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3080" tIns="73080" rIns="73080" bIns="7308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450" b="1" u="none" strike="noStrike">
                <a:solidFill>
                  <a:srgbClr val="C55A11"/>
                </a:solidFill>
                <a:effectLst/>
                <a:uFillTx/>
                <a:latin typeface="Arial"/>
              </a:rPr>
              <a:t>Open-loop fragility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22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A single misclassified epoch can push the arm in the wrong direction.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tat 9"/>
          <p:cNvSpPr/>
          <p:nvPr/>
        </p:nvSpPr>
        <p:spPr>
          <a:xfrm>
            <a:off x="8183880" y="3493080"/>
            <a:ext cx="914040" cy="65808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2F5597"/>
                </a:solidFill>
                <a:effectLst/>
                <a:uFillTx/>
                <a:latin typeface="Arial"/>
              </a:rPr>
              <a:t>3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0"/>
          <p:cNvSpPr/>
          <p:nvPr/>
        </p:nvSpPr>
        <p:spPr>
          <a:xfrm>
            <a:off x="9208080" y="3447360"/>
            <a:ext cx="2514240" cy="932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3080" tIns="73080" rIns="73080" bIns="7308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450" b="1" u="none" strike="noStrike">
                <a:solidFill>
                  <a:srgbClr val="2F5597"/>
                </a:solidFill>
                <a:effectLst/>
                <a:uFillTx/>
                <a:latin typeface="Arial"/>
              </a:rPr>
              <a:t>Deployment gap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22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High-density 64-channel studies do not map cleanly to low-cost hardware.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1"/>
          <p:cNvSpPr/>
          <p:nvPr/>
        </p:nvSpPr>
        <p:spPr>
          <a:xfrm>
            <a:off x="594360" y="5166360"/>
            <a:ext cx="10560960" cy="502560"/>
          </a:xfrm>
          <a:prstGeom prst="rect">
            <a:avLst/>
          </a:prstGeom>
          <a:solidFill>
            <a:srgbClr val="FFF7D6"/>
          </a:solidFill>
          <a:ln w="9525">
            <a:solidFill>
              <a:srgbClr val="E6D2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3080" tIns="73080" rIns="73080" bIns="7308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450" b="1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The project therefore evaluates an offline/simulated perception -&gt; decision -&gt; action loop, not classification accuracy alone.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Page number 9"/>
          <p:cNvSpPr/>
          <p:nvPr/>
        </p:nvSpPr>
        <p:spPr>
          <a:xfrm>
            <a:off x="11109960" y="6473880"/>
            <a:ext cx="685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</a:pPr>
            <a:r>
              <a:rPr lang="en-US" sz="92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3 / 16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lide title 2"/>
          <p:cNvSpPr/>
          <p:nvPr/>
        </p:nvSpPr>
        <p:spPr>
          <a:xfrm>
            <a:off x="411480" y="1207080"/>
            <a:ext cx="76806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500" b="1" u="none" strike="noStrike">
                <a:solidFill>
                  <a:srgbClr val="111111"/>
                </a:solidFill>
                <a:effectLst/>
                <a:uFillTx/>
                <a:latin typeface="Arial"/>
              </a:rPr>
              <a:t>Background: Motor-Imagery BCI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Accent 3"/>
          <p:cNvSpPr/>
          <p:nvPr/>
        </p:nvSpPr>
        <p:spPr>
          <a:xfrm>
            <a:off x="411480" y="1810440"/>
            <a:ext cx="10058040" cy="22680"/>
          </a:xfrm>
          <a:prstGeom prst="rect">
            <a:avLst/>
          </a:prstGeom>
          <a:solidFill>
            <a:srgbClr val="66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1960" rIns="90000" bIns="-219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Stat 4"/>
          <p:cNvSpPr/>
          <p:nvPr/>
        </p:nvSpPr>
        <p:spPr>
          <a:xfrm>
            <a:off x="640080" y="2304360"/>
            <a:ext cx="566640" cy="54828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660099"/>
                </a:solidFill>
                <a:effectLst/>
                <a:uFillTx/>
                <a:latin typeface="Arial"/>
              </a:rPr>
              <a:t>1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5"/>
          <p:cNvSpPr/>
          <p:nvPr/>
        </p:nvSpPr>
        <p:spPr>
          <a:xfrm>
            <a:off x="640080" y="2999160"/>
            <a:ext cx="2395440" cy="107856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500" b="1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EEG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5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Scalp electrodes record microvolt brain activity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Accent 6"/>
          <p:cNvSpPr/>
          <p:nvPr/>
        </p:nvSpPr>
        <p:spPr>
          <a:xfrm>
            <a:off x="3127320" y="2578680"/>
            <a:ext cx="475200" cy="36360"/>
          </a:xfrm>
          <a:prstGeom prst="rect">
            <a:avLst/>
          </a:prstGeom>
          <a:solidFill>
            <a:srgbClr val="FFCC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tat 7"/>
          <p:cNvSpPr/>
          <p:nvPr/>
        </p:nvSpPr>
        <p:spPr>
          <a:xfrm>
            <a:off x="3383280" y="2304360"/>
            <a:ext cx="566640" cy="54828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660099"/>
                </a:solidFill>
                <a:effectLst/>
                <a:uFillTx/>
                <a:latin typeface="Arial"/>
              </a:rPr>
              <a:t>2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8"/>
          <p:cNvSpPr/>
          <p:nvPr/>
        </p:nvSpPr>
        <p:spPr>
          <a:xfrm>
            <a:off x="3383280" y="2999160"/>
            <a:ext cx="2395440" cy="107856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500" b="1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Motor imagery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5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Labels depend on dataset; imagined movement becomes command evidence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Accent 9"/>
          <p:cNvSpPr/>
          <p:nvPr/>
        </p:nvSpPr>
        <p:spPr>
          <a:xfrm>
            <a:off x="5870520" y="2578680"/>
            <a:ext cx="475200" cy="36360"/>
          </a:xfrm>
          <a:prstGeom prst="rect">
            <a:avLst/>
          </a:prstGeom>
          <a:solidFill>
            <a:srgbClr val="FFCC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tat 10"/>
          <p:cNvSpPr/>
          <p:nvPr/>
        </p:nvSpPr>
        <p:spPr>
          <a:xfrm>
            <a:off x="6126480" y="2304360"/>
            <a:ext cx="566640" cy="54828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660099"/>
                </a:solidFill>
                <a:effectLst/>
                <a:uFillTx/>
                <a:latin typeface="Arial"/>
              </a:rPr>
              <a:t>3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11"/>
          <p:cNvSpPr/>
          <p:nvPr/>
        </p:nvSpPr>
        <p:spPr>
          <a:xfrm>
            <a:off x="6126480" y="2999160"/>
            <a:ext cx="2395440" cy="107856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500" b="1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Mu/Beta rhythms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5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8-30 Hz activity over sensorimotor cortex changes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Accent 12"/>
          <p:cNvSpPr/>
          <p:nvPr/>
        </p:nvSpPr>
        <p:spPr>
          <a:xfrm>
            <a:off x="8613720" y="2578680"/>
            <a:ext cx="475200" cy="36360"/>
          </a:xfrm>
          <a:prstGeom prst="rect">
            <a:avLst/>
          </a:prstGeom>
          <a:solidFill>
            <a:srgbClr val="FFCC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tat 13"/>
          <p:cNvSpPr/>
          <p:nvPr/>
        </p:nvSpPr>
        <p:spPr>
          <a:xfrm>
            <a:off x="8869680" y="2304360"/>
            <a:ext cx="566640" cy="54828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660099"/>
                </a:solidFill>
                <a:effectLst/>
                <a:uFillTx/>
                <a:latin typeface="Arial"/>
              </a:rPr>
              <a:t>4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4"/>
          <p:cNvSpPr/>
          <p:nvPr/>
        </p:nvSpPr>
        <p:spPr>
          <a:xfrm>
            <a:off x="8869680" y="2999160"/>
            <a:ext cx="2395440" cy="107856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500" b="1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Robot command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5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Predicted intention becomes a directional control cue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5"/>
          <p:cNvSpPr/>
          <p:nvPr/>
        </p:nvSpPr>
        <p:spPr>
          <a:xfrm>
            <a:off x="731520" y="4846320"/>
            <a:ext cx="4937400" cy="776880"/>
          </a:xfrm>
          <a:prstGeom prst="rect">
            <a:avLst/>
          </a:prstGeom>
          <a:solidFill>
            <a:srgbClr val="F4EFF8"/>
          </a:solidFill>
          <a:ln w="9525">
            <a:solidFill>
              <a:srgbClr val="DDD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3080" tIns="73080" rIns="73080" bIns="7308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600" b="1" u="none" strike="noStrike">
                <a:solidFill>
                  <a:srgbClr val="660099"/>
                </a:solidFill>
                <a:effectLst/>
                <a:uFillTx/>
                <a:latin typeface="Arial"/>
              </a:rPr>
              <a:t>Why motor imagery?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28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It requires no external stimulus and supports voluntary assistive control, but single-trial EEG is noisy and user-dependent.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6"/>
          <p:cNvSpPr/>
          <p:nvPr/>
        </p:nvSpPr>
        <p:spPr>
          <a:xfrm>
            <a:off x="6172200" y="4846320"/>
            <a:ext cx="4937400" cy="776880"/>
          </a:xfrm>
          <a:prstGeom prst="rect">
            <a:avLst/>
          </a:prstGeom>
          <a:solidFill>
            <a:srgbClr val="F4EFF8"/>
          </a:solidFill>
          <a:ln w="9525">
            <a:solidFill>
              <a:srgbClr val="DDD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3080" tIns="73080" rIns="73080" bIns="7308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600" b="1" u="none" strike="noStrike">
                <a:solidFill>
                  <a:srgbClr val="660099"/>
                </a:solidFill>
                <a:effectLst/>
                <a:uFillTx/>
                <a:latin typeface="Arial"/>
              </a:rPr>
              <a:t>Control challenge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28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A robot must recover from wrong cues over time, so the controller must be closed-loop rather than a fixed label-to-action map.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Page number 10"/>
          <p:cNvSpPr/>
          <p:nvPr/>
        </p:nvSpPr>
        <p:spPr>
          <a:xfrm>
            <a:off x="11109960" y="6473880"/>
            <a:ext cx="685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</a:pPr>
            <a:r>
              <a:rPr lang="en-US" sz="92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4 / 16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lide title 2"/>
          <p:cNvSpPr/>
          <p:nvPr/>
        </p:nvSpPr>
        <p:spPr>
          <a:xfrm>
            <a:off x="411480" y="1207080"/>
            <a:ext cx="76806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500" b="1" u="none" strike="noStrike">
                <a:solidFill>
                  <a:srgbClr val="111111"/>
                </a:solidFill>
                <a:effectLst/>
                <a:uFillTx/>
                <a:latin typeface="Arial"/>
              </a:rPr>
              <a:t>Literature Review: Method Gap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Accent 3"/>
          <p:cNvSpPr/>
          <p:nvPr/>
        </p:nvSpPr>
        <p:spPr>
          <a:xfrm>
            <a:off x="411480" y="1810440"/>
            <a:ext cx="10058040" cy="22680"/>
          </a:xfrm>
          <a:prstGeom prst="rect">
            <a:avLst/>
          </a:prstGeom>
          <a:solidFill>
            <a:srgbClr val="66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1960" rIns="90000" bIns="-219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4"/>
          <p:cNvSpPr/>
          <p:nvPr/>
        </p:nvSpPr>
        <p:spPr>
          <a:xfrm>
            <a:off x="621720" y="2240280"/>
            <a:ext cx="2331360" cy="50256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660099"/>
                </a:solidFill>
                <a:effectLst/>
                <a:uFillTx/>
                <a:latin typeface="Arial"/>
              </a:rPr>
              <a:t>CSP / FBCSP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5"/>
          <p:cNvSpPr/>
          <p:nvPr/>
        </p:nvSpPr>
        <p:spPr>
          <a:xfrm>
            <a:off x="3063240" y="2240280"/>
            <a:ext cx="3245760" cy="502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22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Interpretable spatial filters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6"/>
          <p:cNvSpPr/>
          <p:nvPr/>
        </p:nvSpPr>
        <p:spPr>
          <a:xfrm>
            <a:off x="6437520" y="2240280"/>
            <a:ext cx="4251600" cy="502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22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Sensitive to covariance drift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7"/>
          <p:cNvSpPr/>
          <p:nvPr/>
        </p:nvSpPr>
        <p:spPr>
          <a:xfrm>
            <a:off x="621720" y="2999160"/>
            <a:ext cx="2331360" cy="50256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660099"/>
                </a:solidFill>
                <a:effectLst/>
                <a:uFillTx/>
                <a:latin typeface="Arial"/>
              </a:rPr>
              <a:t>EEGNet / CNNs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8"/>
          <p:cNvSpPr/>
          <p:nvPr/>
        </p:nvSpPr>
        <p:spPr>
          <a:xfrm>
            <a:off x="3063240" y="2999160"/>
            <a:ext cx="3245760" cy="502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22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Learn compact spatial-temporal filters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9"/>
          <p:cNvSpPr/>
          <p:nvPr/>
        </p:nvSpPr>
        <p:spPr>
          <a:xfrm>
            <a:off x="6437520" y="2999160"/>
            <a:ext cx="4251600" cy="502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22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Mostly independent single-trial decisions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10"/>
          <p:cNvSpPr/>
          <p:nvPr/>
        </p:nvSpPr>
        <p:spPr>
          <a:xfrm>
            <a:off x="621720" y="3758040"/>
            <a:ext cx="2331360" cy="50256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660099"/>
                </a:solidFill>
                <a:effectLst/>
                <a:uFillTx/>
                <a:latin typeface="Arial"/>
              </a:rPr>
              <a:t>EEG-Conformer / ATCNet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11"/>
          <p:cNvSpPr/>
          <p:nvPr/>
        </p:nvSpPr>
        <p:spPr>
          <a:xfrm>
            <a:off x="3063240" y="3758040"/>
            <a:ext cx="3245760" cy="502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22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Stronger CNN-attention decoders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2"/>
          <p:cNvSpPr/>
          <p:nvPr/>
        </p:nvSpPr>
        <p:spPr>
          <a:xfrm>
            <a:off x="6437520" y="3758040"/>
            <a:ext cx="4251600" cy="502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22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Classifier output still treated as endpoint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13"/>
          <p:cNvSpPr/>
          <p:nvPr/>
        </p:nvSpPr>
        <p:spPr>
          <a:xfrm>
            <a:off x="621720" y="4517280"/>
            <a:ext cx="2331360" cy="50256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660099"/>
                </a:solidFill>
                <a:effectLst/>
                <a:uFillTx/>
                <a:latin typeface="Arial"/>
              </a:rPr>
              <a:t>RL for EEG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4"/>
          <p:cNvSpPr/>
          <p:nvPr/>
        </p:nvSpPr>
        <p:spPr>
          <a:xfrm>
            <a:off x="3063240" y="4517280"/>
            <a:ext cx="3245760" cy="502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22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Useful for feature selection or adaptation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5"/>
          <p:cNvSpPr/>
          <p:nvPr/>
        </p:nvSpPr>
        <p:spPr>
          <a:xfrm>
            <a:off x="6437520" y="4517280"/>
            <a:ext cx="4251600" cy="502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22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Less often used for actuator control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tat 16"/>
          <p:cNvSpPr/>
          <p:nvPr/>
        </p:nvSpPr>
        <p:spPr>
          <a:xfrm>
            <a:off x="731520" y="5440680"/>
            <a:ext cx="1919880" cy="65808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660099"/>
                </a:solidFill>
                <a:effectLst/>
                <a:uFillTx/>
                <a:latin typeface="Arial"/>
              </a:rPr>
              <a:t>73.80%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5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Ours on BCI IV-2a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tat 17"/>
          <p:cNvSpPr/>
          <p:nvPr/>
        </p:nvSpPr>
        <p:spPr>
          <a:xfrm>
            <a:off x="2971800" y="5440680"/>
            <a:ext cx="1919880" cy="65808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2F5597"/>
                </a:solidFill>
                <a:effectLst/>
                <a:uFillTx/>
                <a:latin typeface="Arial"/>
              </a:rPr>
              <a:t>77.7%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5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EEG-Conformer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tat 18"/>
          <p:cNvSpPr/>
          <p:nvPr/>
        </p:nvSpPr>
        <p:spPr>
          <a:xfrm>
            <a:off x="5212080" y="5440680"/>
            <a:ext cx="1919880" cy="65808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2F5597"/>
                </a:solidFill>
                <a:effectLst/>
                <a:uFillTx/>
                <a:latin typeface="Arial"/>
              </a:rPr>
              <a:t>80.5%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5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ATCNet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9"/>
          <p:cNvSpPr/>
          <p:nvPr/>
        </p:nvSpPr>
        <p:spPr>
          <a:xfrm>
            <a:off x="7543800" y="5376600"/>
            <a:ext cx="3520080" cy="785880"/>
          </a:xfrm>
          <a:prstGeom prst="rect">
            <a:avLst/>
          </a:prstGeom>
          <a:solidFill>
            <a:srgbClr val="FFF7D6"/>
          </a:solidFill>
          <a:ln w="9525">
            <a:solidFill>
              <a:srgbClr val="E6D2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3080" tIns="73080" rIns="73080" bIns="7308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220" b="1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Positioning: indicative literature context, not a direct leaderboard; the main contribution is the closed-loop pipeline.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Page number 11"/>
          <p:cNvSpPr/>
          <p:nvPr/>
        </p:nvSpPr>
        <p:spPr>
          <a:xfrm>
            <a:off x="11109960" y="6473880"/>
            <a:ext cx="685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</a:pPr>
            <a:r>
              <a:rPr lang="en-US" sz="92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5 / 16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lide title 2"/>
          <p:cNvSpPr/>
          <p:nvPr/>
        </p:nvSpPr>
        <p:spPr>
          <a:xfrm>
            <a:off x="411480" y="1207080"/>
            <a:ext cx="76806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500" b="1" u="none" strike="noStrike">
                <a:solidFill>
                  <a:srgbClr val="111111"/>
                </a:solidFill>
                <a:effectLst/>
                <a:uFillTx/>
                <a:latin typeface="Arial"/>
              </a:rPr>
              <a:t>Dataset and Method Choice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Accent 3"/>
          <p:cNvSpPr/>
          <p:nvPr/>
        </p:nvSpPr>
        <p:spPr>
          <a:xfrm>
            <a:off x="411480" y="1810440"/>
            <a:ext cx="10058040" cy="22680"/>
          </a:xfrm>
          <a:prstGeom prst="rect">
            <a:avLst/>
          </a:prstGeom>
          <a:solidFill>
            <a:srgbClr val="66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1960" rIns="90000" bIns="-219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1" name="Dataset comparison 4"/>
          <p:cNvPicPr/>
          <p:nvPr/>
        </p:nvPicPr>
        <p:blipFill>
          <a:blip r:embed="rId1"/>
          <a:stretch/>
        </p:blipFill>
        <p:spPr>
          <a:xfrm>
            <a:off x="5651280" y="1965960"/>
            <a:ext cx="5156280" cy="363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2" name="Text 5"/>
          <p:cNvSpPr/>
          <p:nvPr/>
        </p:nvSpPr>
        <p:spPr>
          <a:xfrm>
            <a:off x="594360" y="2030040"/>
            <a:ext cx="4525920" cy="82260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450" b="1" u="none" strike="noStrike">
                <a:solidFill>
                  <a:srgbClr val="660099"/>
                </a:solidFill>
                <a:effectLst/>
                <a:uFillTx/>
                <a:latin typeface="Arial"/>
              </a:rPr>
              <a:t>BCI IV-2a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30" b="1" u="none" strike="noStrike">
                <a:solidFill>
                  <a:srgbClr val="595959"/>
                </a:solidFill>
                <a:effectLst/>
                <a:uFillTx/>
                <a:latin typeface="Arial"/>
              </a:rPr>
              <a:t>22 ch | 4 classes | 9 subjects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5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Standard multi-class benchmark for literature comparison.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6"/>
          <p:cNvSpPr/>
          <p:nvPr/>
        </p:nvSpPr>
        <p:spPr>
          <a:xfrm>
            <a:off x="594360" y="3090600"/>
            <a:ext cx="4525920" cy="82260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450" b="1" u="none" strike="noStrike">
                <a:solidFill>
                  <a:srgbClr val="660099"/>
                </a:solidFill>
                <a:effectLst/>
                <a:uFillTx/>
                <a:latin typeface="Arial"/>
              </a:rPr>
              <a:t>BCI IV-2b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30" b="1" u="none" strike="noStrike">
                <a:solidFill>
                  <a:srgbClr val="595959"/>
                </a:solidFill>
                <a:effectLst/>
                <a:uFillTx/>
                <a:latin typeface="Arial"/>
              </a:rPr>
              <a:t>3 ch | 2 classes | 9 subjects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5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Minimal-channel stress test under strong hardware constraint.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7"/>
          <p:cNvSpPr/>
          <p:nvPr/>
        </p:nvSpPr>
        <p:spPr>
          <a:xfrm>
            <a:off x="594360" y="4151520"/>
            <a:ext cx="4525920" cy="82260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450" b="1" u="none" strike="noStrike">
                <a:solidFill>
                  <a:srgbClr val="660099"/>
                </a:solidFill>
                <a:effectLst/>
                <a:uFillTx/>
                <a:latin typeface="Arial"/>
              </a:rPr>
              <a:t>PhysioNet EEGMMIDB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30" b="1" u="none" strike="noStrike">
                <a:solidFill>
                  <a:srgbClr val="595959"/>
                </a:solidFill>
                <a:effectLst/>
                <a:uFillTx/>
                <a:latin typeface="Arial"/>
              </a:rPr>
              <a:t>64 ch | 4 classes | 109 subjects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5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Large subject pool for cross-subject pre-training and fine-tuning.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8"/>
          <p:cNvSpPr/>
          <p:nvPr/>
        </p:nvSpPr>
        <p:spPr>
          <a:xfrm>
            <a:off x="594360" y="5376600"/>
            <a:ext cx="10332360" cy="438480"/>
          </a:xfrm>
          <a:prstGeom prst="rect">
            <a:avLst/>
          </a:prstGeom>
          <a:solidFill>
            <a:srgbClr val="F4EFF8"/>
          </a:solidFill>
          <a:ln w="9525">
            <a:solidFill>
              <a:srgbClr val="DDD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3080" tIns="73080" rIns="73080" bIns="7308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280" b="1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The datasets are evaluated independently because their montages, class definitions, and published protocols differ.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Page number 12"/>
          <p:cNvSpPr/>
          <p:nvPr/>
        </p:nvSpPr>
        <p:spPr>
          <a:xfrm>
            <a:off x="11109960" y="6473880"/>
            <a:ext cx="685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</a:pPr>
            <a:r>
              <a:rPr lang="en-US" sz="92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6 / 16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Slide title 2"/>
          <p:cNvSpPr/>
          <p:nvPr/>
        </p:nvSpPr>
        <p:spPr>
          <a:xfrm>
            <a:off x="411480" y="1207080"/>
            <a:ext cx="76806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500" b="1" u="none" strike="noStrike">
                <a:solidFill>
                  <a:srgbClr val="111111"/>
                </a:solidFill>
                <a:effectLst/>
                <a:uFillTx/>
                <a:latin typeface="Arial"/>
              </a:rPr>
              <a:t>Overall System Architecture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Accent 3"/>
          <p:cNvSpPr/>
          <p:nvPr/>
        </p:nvSpPr>
        <p:spPr>
          <a:xfrm>
            <a:off x="411480" y="1810440"/>
            <a:ext cx="10058040" cy="22680"/>
          </a:xfrm>
          <a:prstGeom prst="rect">
            <a:avLst/>
          </a:prstGeom>
          <a:solidFill>
            <a:srgbClr val="66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1960" rIns="90000" bIns="-219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9" name="System architecture 4"/>
          <p:cNvPicPr/>
          <p:nvPr/>
        </p:nvPicPr>
        <p:blipFill>
          <a:blip r:embed="rId1"/>
          <a:stretch/>
        </p:blipFill>
        <p:spPr>
          <a:xfrm>
            <a:off x="2554200" y="2084760"/>
            <a:ext cx="6778800" cy="361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0" name="Text 5"/>
          <p:cNvSpPr/>
          <p:nvPr/>
        </p:nvSpPr>
        <p:spPr>
          <a:xfrm>
            <a:off x="685800" y="5760720"/>
            <a:ext cx="103323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230" b="1" u="none" strike="noStrike">
                <a:solidFill>
                  <a:srgbClr val="660099"/>
                </a:solidFill>
                <a:effectLst/>
                <a:uFillTx/>
                <a:latin typeface="Arial"/>
              </a:rPr>
              <a:t>Classifier output is noisy DQN evidence; OpenBCI was interface/synthetic-board validated, not live EEG controlled.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Page number 13"/>
          <p:cNvSpPr/>
          <p:nvPr/>
        </p:nvSpPr>
        <p:spPr>
          <a:xfrm>
            <a:off x="11109960" y="6473880"/>
            <a:ext cx="685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</a:pPr>
            <a:r>
              <a:rPr lang="en-US" sz="92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7 / 16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Slide title 2"/>
          <p:cNvSpPr/>
          <p:nvPr/>
        </p:nvSpPr>
        <p:spPr>
          <a:xfrm>
            <a:off x="411480" y="1207080"/>
            <a:ext cx="76806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500" b="1" u="none" strike="noStrike">
                <a:solidFill>
                  <a:srgbClr val="111111"/>
                </a:solidFill>
                <a:effectLst/>
                <a:uFillTx/>
                <a:latin typeface="Arial"/>
              </a:rPr>
              <a:t>Preprocessing and Evidence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Accent 3"/>
          <p:cNvSpPr/>
          <p:nvPr/>
        </p:nvSpPr>
        <p:spPr>
          <a:xfrm>
            <a:off x="411480" y="1810440"/>
            <a:ext cx="10058040" cy="22680"/>
          </a:xfrm>
          <a:prstGeom prst="rect">
            <a:avLst/>
          </a:prstGeom>
          <a:solidFill>
            <a:srgbClr val="66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1960" rIns="90000" bIns="-219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4"/>
          <p:cNvSpPr/>
          <p:nvPr/>
        </p:nvSpPr>
        <p:spPr>
          <a:xfrm>
            <a:off x="621720" y="2240280"/>
            <a:ext cx="2331360" cy="100548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420" b="1" u="none" strike="noStrike">
                <a:solidFill>
                  <a:srgbClr val="660099"/>
                </a:solidFill>
                <a:effectLst/>
                <a:uFillTx/>
                <a:latin typeface="Arial"/>
              </a:rPr>
              <a:t>Raw EEG</a:t>
            </a:r>
            <a:endParaRPr lang="en-US" sz="1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2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EDF / MAT loading, channel standardisation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Accent 5"/>
          <p:cNvSpPr/>
          <p:nvPr/>
        </p:nvSpPr>
        <p:spPr>
          <a:xfrm>
            <a:off x="3044880" y="2724840"/>
            <a:ext cx="438480" cy="36360"/>
          </a:xfrm>
          <a:prstGeom prst="rect">
            <a:avLst/>
          </a:prstGeom>
          <a:solidFill>
            <a:srgbClr val="FFCC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6"/>
          <p:cNvSpPr/>
          <p:nvPr/>
        </p:nvSpPr>
        <p:spPr>
          <a:xfrm>
            <a:off x="3364920" y="2240280"/>
            <a:ext cx="2331360" cy="100548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420" b="1" u="none" strike="noStrike">
                <a:solidFill>
                  <a:srgbClr val="660099"/>
                </a:solidFill>
                <a:effectLst/>
                <a:uFillTx/>
                <a:latin typeface="Arial"/>
              </a:rPr>
              <a:t>8-30 Hz bandpass</a:t>
            </a:r>
            <a:endParaRPr lang="en-US" sz="1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2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Keeps motor-imagery Mu/Beta information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Accent 7"/>
          <p:cNvSpPr/>
          <p:nvPr/>
        </p:nvSpPr>
        <p:spPr>
          <a:xfrm>
            <a:off x="5788080" y="2724840"/>
            <a:ext cx="438480" cy="36360"/>
          </a:xfrm>
          <a:prstGeom prst="rect">
            <a:avLst/>
          </a:prstGeom>
          <a:solidFill>
            <a:srgbClr val="FFCC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8"/>
          <p:cNvSpPr/>
          <p:nvPr/>
        </p:nvSpPr>
        <p:spPr>
          <a:xfrm>
            <a:off x="6108120" y="2240280"/>
            <a:ext cx="2331360" cy="100548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420" b="1" u="none" strike="noStrike">
                <a:solidFill>
                  <a:srgbClr val="660099"/>
                </a:solidFill>
                <a:effectLst/>
                <a:uFillTx/>
                <a:latin typeface="Arial"/>
              </a:rPr>
              <a:t>Epoch + resample</a:t>
            </a:r>
            <a:endParaRPr lang="en-US" sz="1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2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Fixed input tensor for EEGTransformer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Accent 9"/>
          <p:cNvSpPr/>
          <p:nvPr/>
        </p:nvSpPr>
        <p:spPr>
          <a:xfrm>
            <a:off x="8531280" y="2724840"/>
            <a:ext cx="438480" cy="36360"/>
          </a:xfrm>
          <a:prstGeom prst="rect">
            <a:avLst/>
          </a:prstGeom>
          <a:solidFill>
            <a:srgbClr val="FFCC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10"/>
          <p:cNvSpPr/>
          <p:nvPr/>
        </p:nvSpPr>
        <p:spPr>
          <a:xfrm>
            <a:off x="8851320" y="2240280"/>
            <a:ext cx="2331360" cy="100548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420" b="1" u="none" strike="noStrike">
                <a:solidFill>
                  <a:srgbClr val="660099"/>
                </a:solidFill>
                <a:effectLst/>
                <a:uFillTx/>
                <a:latin typeface="Arial"/>
              </a:rPr>
              <a:t>Normalise</a:t>
            </a:r>
            <a:endParaRPr lang="en-US" sz="1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2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Training statistics reused on held-out data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tat 11"/>
          <p:cNvSpPr/>
          <p:nvPr/>
        </p:nvSpPr>
        <p:spPr>
          <a:xfrm>
            <a:off x="1005840" y="4160520"/>
            <a:ext cx="2377080" cy="86832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+18.44%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5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5-subject PhysioNet filter ablation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tat 12"/>
          <p:cNvSpPr/>
          <p:nvPr/>
        </p:nvSpPr>
        <p:spPr>
          <a:xfrm>
            <a:off x="3749040" y="4160520"/>
            <a:ext cx="2377080" cy="86832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C55A11"/>
                </a:solidFill>
                <a:effectLst/>
                <a:uFillTx/>
                <a:latin typeface="Arial"/>
              </a:rPr>
              <a:t>+1.51%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5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3-subject BCI IV-2a ICA test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13"/>
          <p:cNvSpPr/>
          <p:nvPr/>
        </p:nvSpPr>
        <p:spPr>
          <a:xfrm>
            <a:off x="6583680" y="4069080"/>
            <a:ext cx="4251600" cy="1078560"/>
          </a:xfrm>
          <a:prstGeom prst="rect">
            <a:avLst/>
          </a:prstGeom>
          <a:solidFill>
            <a:srgbClr val="FFF7D6"/>
          </a:solidFill>
          <a:ln w="9525">
            <a:solidFill>
              <a:srgbClr val="E6D2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3080" tIns="73080" rIns="73080" bIns="7308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600" b="1" u="none" strike="noStrike">
                <a:solidFill>
                  <a:srgbClr val="660099"/>
                </a:solidFill>
                <a:effectLst/>
                <a:uFillTx/>
                <a:latin typeface="Arial"/>
              </a:rPr>
              <a:t>Resulting choice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22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Use a bandpass-only pipeline for the main experiments. ICA is reported as limited-scope evidence, not a universal conclusion.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Page number 14"/>
          <p:cNvSpPr/>
          <p:nvPr/>
        </p:nvSpPr>
        <p:spPr>
          <a:xfrm>
            <a:off x="11109960" y="6473880"/>
            <a:ext cx="685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</a:pPr>
            <a:r>
              <a:rPr lang="en-US" sz="92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8 / 16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Slide title 2"/>
          <p:cNvSpPr/>
          <p:nvPr/>
        </p:nvSpPr>
        <p:spPr>
          <a:xfrm>
            <a:off x="411480" y="1207080"/>
            <a:ext cx="76806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500" b="1" u="none" strike="noStrike">
                <a:solidFill>
                  <a:srgbClr val="111111"/>
                </a:solidFill>
                <a:effectLst/>
                <a:uFillTx/>
                <a:latin typeface="Arial"/>
              </a:rPr>
              <a:t>EEGTransformer Design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Accent 3"/>
          <p:cNvSpPr/>
          <p:nvPr/>
        </p:nvSpPr>
        <p:spPr>
          <a:xfrm>
            <a:off x="411480" y="1810440"/>
            <a:ext cx="10058040" cy="22680"/>
          </a:xfrm>
          <a:prstGeom prst="rect">
            <a:avLst/>
          </a:prstGeom>
          <a:solidFill>
            <a:srgbClr val="66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1960" rIns="90000" bIns="-219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7" name="EEGTransformer architecture 4"/>
          <p:cNvPicPr/>
          <p:nvPr/>
        </p:nvPicPr>
        <p:blipFill>
          <a:blip r:embed="rId1"/>
          <a:stretch/>
        </p:blipFill>
        <p:spPr>
          <a:xfrm>
            <a:off x="502920" y="1985040"/>
            <a:ext cx="7589160" cy="293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8" name="Text 5"/>
          <p:cNvSpPr/>
          <p:nvPr/>
        </p:nvSpPr>
        <p:spPr>
          <a:xfrm>
            <a:off x="8275320" y="2011680"/>
            <a:ext cx="2880000" cy="71280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380" b="1" u="none" strike="noStrike">
                <a:solidFill>
                  <a:srgbClr val="660099"/>
                </a:solidFill>
                <a:effectLst/>
                <a:uFillTx/>
                <a:latin typeface="Arial"/>
              </a:rPr>
              <a:t>CNN front-end</a:t>
            </a:r>
            <a:endParaRPr lang="en-US" sz="1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3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Learns temporal filters and data-driven spatial filters.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6"/>
          <p:cNvSpPr/>
          <p:nvPr/>
        </p:nvSpPr>
        <p:spPr>
          <a:xfrm>
            <a:off x="8275320" y="2944440"/>
            <a:ext cx="2880000" cy="71280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380" b="1" u="none" strike="noStrike">
                <a:solidFill>
                  <a:srgbClr val="660099"/>
                </a:solidFill>
                <a:effectLst/>
                <a:uFillTx/>
                <a:latin typeface="Arial"/>
              </a:rPr>
              <a:t>Transformer encoder</a:t>
            </a:r>
            <a:endParaRPr lang="en-US" sz="1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3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Models long-range structure across the MI window.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7"/>
          <p:cNvSpPr/>
          <p:nvPr/>
        </p:nvSpPr>
        <p:spPr>
          <a:xfrm>
            <a:off x="8275320" y="3877200"/>
            <a:ext cx="2880000" cy="71280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380" b="1" u="none" strike="noStrike">
                <a:solidFill>
                  <a:srgbClr val="660099"/>
                </a:solidFill>
                <a:effectLst/>
                <a:uFillTx/>
                <a:latin typeface="Arial"/>
              </a:rPr>
              <a:t>Residual fusion</a:t>
            </a:r>
            <a:endParaRPr lang="en-US" sz="1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3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Combines local EEG features with global context before classification.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Stat 8"/>
          <p:cNvSpPr/>
          <p:nvPr/>
        </p:nvSpPr>
        <p:spPr>
          <a:xfrm>
            <a:off x="1097280" y="5376600"/>
            <a:ext cx="1828440" cy="65808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660099"/>
                </a:solidFill>
                <a:effectLst/>
                <a:uFillTx/>
                <a:latin typeface="Arial"/>
              </a:rPr>
              <a:t>64 x 1000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5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Main PhysioNet input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Stat 9"/>
          <p:cNvSpPr/>
          <p:nvPr/>
        </p:nvSpPr>
        <p:spPr>
          <a:xfrm>
            <a:off x="3337560" y="5376600"/>
            <a:ext cx="1828440" cy="65808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660099"/>
                </a:solidFill>
                <a:effectLst/>
                <a:uFillTx/>
                <a:latin typeface="Arial"/>
              </a:rPr>
              <a:t>15 tokens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5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After pooling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tat 10"/>
          <p:cNvSpPr/>
          <p:nvPr/>
        </p:nvSpPr>
        <p:spPr>
          <a:xfrm>
            <a:off x="5577840" y="5376600"/>
            <a:ext cx="1828440" cy="65808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660099"/>
                </a:solidFill>
                <a:effectLst/>
                <a:uFillTx/>
                <a:latin typeface="Arial"/>
              </a:rPr>
              <a:t>4 classes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5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MI command output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Page number 15"/>
          <p:cNvSpPr/>
          <p:nvPr/>
        </p:nvSpPr>
        <p:spPr>
          <a:xfrm>
            <a:off x="11109960" y="6473880"/>
            <a:ext cx="685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</a:pPr>
            <a:r>
              <a:rPr lang="en-US" sz="92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9 / 16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lide title 2"/>
          <p:cNvSpPr/>
          <p:nvPr/>
        </p:nvSpPr>
        <p:spPr>
          <a:xfrm>
            <a:off x="411480" y="1207080"/>
            <a:ext cx="76806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500" b="1" u="none" strike="noStrike">
                <a:solidFill>
                  <a:srgbClr val="111111"/>
                </a:solidFill>
                <a:effectLst/>
                <a:uFillTx/>
                <a:latin typeface="Arial"/>
              </a:rPr>
              <a:t>Training and Transfer Learning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Accent 3"/>
          <p:cNvSpPr/>
          <p:nvPr/>
        </p:nvSpPr>
        <p:spPr>
          <a:xfrm>
            <a:off x="411480" y="1810440"/>
            <a:ext cx="10058040" cy="22680"/>
          </a:xfrm>
          <a:prstGeom prst="rect">
            <a:avLst/>
          </a:prstGeom>
          <a:solidFill>
            <a:srgbClr val="66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1960" rIns="90000" bIns="-219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7" name="Fine tuning comparison 4"/>
          <p:cNvPicPr/>
          <p:nvPr/>
        </p:nvPicPr>
        <p:blipFill>
          <a:blip r:embed="rId1"/>
          <a:stretch/>
        </p:blipFill>
        <p:spPr>
          <a:xfrm>
            <a:off x="3794760" y="1965960"/>
            <a:ext cx="7131960" cy="294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8" name="Stat 5"/>
          <p:cNvSpPr/>
          <p:nvPr/>
        </p:nvSpPr>
        <p:spPr>
          <a:xfrm>
            <a:off x="777240" y="2148840"/>
            <a:ext cx="2377080" cy="86832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C55A11"/>
                </a:solidFill>
                <a:effectLst/>
                <a:uFillTx/>
                <a:latin typeface="Arial"/>
              </a:rPr>
              <a:t>56.54%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5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Pooled cross-subject PhysioNet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tat 6"/>
          <p:cNvSpPr/>
          <p:nvPr/>
        </p:nvSpPr>
        <p:spPr>
          <a:xfrm>
            <a:off x="777240" y="3246120"/>
            <a:ext cx="2377080" cy="86832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88.78%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5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Fine-tuned mean | 10 subjects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tat 7"/>
          <p:cNvSpPr/>
          <p:nvPr/>
        </p:nvSpPr>
        <p:spPr>
          <a:xfrm>
            <a:off x="777240" y="4343400"/>
            <a:ext cx="2377080" cy="86832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660099"/>
                </a:solidFill>
                <a:effectLst/>
                <a:uFillTx/>
                <a:latin typeface="Arial"/>
              </a:rPr>
              <a:t>+32 pts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5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Gap reduced in fine-tuning eval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8"/>
          <p:cNvSpPr/>
          <p:nvPr/>
        </p:nvSpPr>
        <p:spPr>
          <a:xfrm>
            <a:off x="3977640" y="5303520"/>
            <a:ext cx="6674760" cy="511560"/>
          </a:xfrm>
          <a:prstGeom prst="rect">
            <a:avLst/>
          </a:prstGeom>
          <a:solidFill>
            <a:srgbClr val="F4EFF8"/>
          </a:solidFill>
          <a:ln w="9525">
            <a:solidFill>
              <a:srgbClr val="DDD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3080" tIns="73080" rIns="73080" bIns="7308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220" b="1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Interpretation: fine-tuning adapts a transferable MI representation; broader full-cohort validation remains future work.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Page number 16"/>
          <p:cNvSpPr/>
          <p:nvPr/>
        </p:nvSpPr>
        <p:spPr>
          <a:xfrm>
            <a:off x="11109960" y="6473880"/>
            <a:ext cx="685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</a:pPr>
            <a:r>
              <a:rPr lang="en-US" sz="92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10 / 16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lide title 2"/>
          <p:cNvSpPr/>
          <p:nvPr/>
        </p:nvSpPr>
        <p:spPr>
          <a:xfrm>
            <a:off x="411480" y="1207080"/>
            <a:ext cx="76806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500" b="1" u="none" strike="noStrike">
                <a:solidFill>
                  <a:srgbClr val="111111"/>
                </a:solidFill>
                <a:effectLst/>
                <a:uFillTx/>
                <a:latin typeface="Arial"/>
              </a:rPr>
              <a:t>Classification Results: Useful Decoder, Not SOTA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Accent 3"/>
          <p:cNvSpPr/>
          <p:nvPr/>
        </p:nvSpPr>
        <p:spPr>
          <a:xfrm>
            <a:off x="411480" y="1810440"/>
            <a:ext cx="10058040" cy="22680"/>
          </a:xfrm>
          <a:prstGeom prst="rect">
            <a:avLst/>
          </a:prstGeom>
          <a:solidFill>
            <a:srgbClr val="66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1960" rIns="90000" bIns="-219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Stat 4"/>
          <p:cNvSpPr/>
          <p:nvPr/>
        </p:nvSpPr>
        <p:spPr>
          <a:xfrm>
            <a:off x="731520" y="2103120"/>
            <a:ext cx="2011320" cy="86832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660099"/>
                </a:solidFill>
                <a:effectLst/>
                <a:uFillTx/>
                <a:latin typeface="Arial"/>
              </a:rPr>
              <a:t>73.80%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5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BCI IV-2a | 22 ch | 4 class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Stat 5"/>
          <p:cNvSpPr/>
          <p:nvPr/>
        </p:nvSpPr>
        <p:spPr>
          <a:xfrm>
            <a:off x="3017520" y="2103120"/>
            <a:ext cx="2011320" cy="86832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660099"/>
                </a:solidFill>
                <a:effectLst/>
                <a:uFillTx/>
                <a:latin typeface="Arial"/>
              </a:rPr>
              <a:t>82.87%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5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BCI IV-2b | 3 ch | 2 class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Stat 6"/>
          <p:cNvSpPr/>
          <p:nvPr/>
        </p:nvSpPr>
        <p:spPr>
          <a:xfrm>
            <a:off x="5303520" y="2103120"/>
            <a:ext cx="2011320" cy="86832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660099"/>
                </a:solidFill>
                <a:effectLst/>
                <a:uFillTx/>
                <a:latin typeface="Arial"/>
              </a:rPr>
              <a:t>88.78%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5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PhysioNet | fine-tuned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7"/>
          <p:cNvSpPr/>
          <p:nvPr/>
        </p:nvSpPr>
        <p:spPr>
          <a:xfrm>
            <a:off x="777240" y="3429000"/>
            <a:ext cx="3657240" cy="301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7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FBCSP + SVM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8"/>
          <p:cNvSpPr/>
          <p:nvPr/>
        </p:nvSpPr>
        <p:spPr>
          <a:xfrm>
            <a:off x="4498920" y="3429000"/>
            <a:ext cx="1142640" cy="301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70" b="1" u="none" strike="noStrike">
                <a:solidFill>
                  <a:srgbClr val="660099"/>
                </a:solidFill>
                <a:effectLst/>
                <a:uFillTx/>
                <a:latin typeface="Arial"/>
              </a:rPr>
              <a:t>67.6%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9"/>
          <p:cNvSpPr/>
          <p:nvPr/>
        </p:nvSpPr>
        <p:spPr>
          <a:xfrm>
            <a:off x="5715000" y="3429000"/>
            <a:ext cx="4754520" cy="301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7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Classical baseline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10"/>
          <p:cNvSpPr/>
          <p:nvPr/>
        </p:nvSpPr>
        <p:spPr>
          <a:xfrm>
            <a:off x="777240" y="3840480"/>
            <a:ext cx="3657240" cy="301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7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EEGNet / ShallowConvNet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11"/>
          <p:cNvSpPr/>
          <p:nvPr/>
        </p:nvSpPr>
        <p:spPr>
          <a:xfrm>
            <a:off x="4498920" y="3840480"/>
            <a:ext cx="1142640" cy="301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70" b="1" u="none" strike="noStrike">
                <a:solidFill>
                  <a:srgbClr val="660099"/>
                </a:solidFill>
                <a:effectLst/>
                <a:uFillTx/>
                <a:latin typeface="Arial"/>
              </a:rPr>
              <a:t>68-72%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12"/>
          <p:cNvSpPr/>
          <p:nvPr/>
        </p:nvSpPr>
        <p:spPr>
          <a:xfrm>
            <a:off x="5715000" y="3840480"/>
            <a:ext cx="4754520" cy="301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7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Compact CNN family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13"/>
          <p:cNvSpPr/>
          <p:nvPr/>
        </p:nvSpPr>
        <p:spPr>
          <a:xfrm>
            <a:off x="777240" y="4251960"/>
            <a:ext cx="3657240" cy="301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7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EEG-Conformer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14"/>
          <p:cNvSpPr/>
          <p:nvPr/>
        </p:nvSpPr>
        <p:spPr>
          <a:xfrm>
            <a:off x="4498920" y="4251960"/>
            <a:ext cx="1142640" cy="301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70" b="1" u="none" strike="noStrike">
                <a:solidFill>
                  <a:srgbClr val="660099"/>
                </a:solidFill>
                <a:effectLst/>
                <a:uFillTx/>
                <a:latin typeface="Arial"/>
              </a:rPr>
              <a:t>77.7%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15"/>
          <p:cNvSpPr/>
          <p:nvPr/>
        </p:nvSpPr>
        <p:spPr>
          <a:xfrm>
            <a:off x="5715000" y="4251960"/>
            <a:ext cx="4754520" cy="301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7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CNN + Transformer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16"/>
          <p:cNvSpPr/>
          <p:nvPr/>
        </p:nvSpPr>
        <p:spPr>
          <a:xfrm>
            <a:off x="777240" y="4663440"/>
            <a:ext cx="3657240" cy="301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7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ATCNet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17"/>
          <p:cNvSpPr/>
          <p:nvPr/>
        </p:nvSpPr>
        <p:spPr>
          <a:xfrm>
            <a:off x="4498920" y="4663440"/>
            <a:ext cx="1142640" cy="301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70" b="1" u="none" strike="noStrike">
                <a:solidFill>
                  <a:srgbClr val="660099"/>
                </a:solidFill>
                <a:effectLst/>
                <a:uFillTx/>
                <a:latin typeface="Arial"/>
              </a:rPr>
              <a:t>80.5%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18"/>
          <p:cNvSpPr/>
          <p:nvPr/>
        </p:nvSpPr>
        <p:spPr>
          <a:xfrm>
            <a:off x="5715000" y="4663440"/>
            <a:ext cx="4754520" cy="301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7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Attention temporal CNN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19"/>
          <p:cNvSpPr/>
          <p:nvPr/>
        </p:nvSpPr>
        <p:spPr>
          <a:xfrm>
            <a:off x="777240" y="5074920"/>
            <a:ext cx="3657240" cy="301320"/>
          </a:xfrm>
          <a:prstGeom prst="rect">
            <a:avLst/>
          </a:prstGeom>
          <a:solidFill>
            <a:srgbClr val="F4EFF8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70" b="1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EEGTransformer (ours)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20"/>
          <p:cNvSpPr/>
          <p:nvPr/>
        </p:nvSpPr>
        <p:spPr>
          <a:xfrm>
            <a:off x="4498920" y="5074920"/>
            <a:ext cx="1142640" cy="301320"/>
          </a:xfrm>
          <a:prstGeom prst="rect">
            <a:avLst/>
          </a:prstGeom>
          <a:solidFill>
            <a:srgbClr val="F4EFF8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70" b="1" u="none" strike="noStrike">
                <a:solidFill>
                  <a:srgbClr val="660099"/>
                </a:solidFill>
                <a:effectLst/>
                <a:uFillTx/>
                <a:latin typeface="Arial"/>
              </a:rPr>
              <a:t>73.80%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21"/>
          <p:cNvSpPr/>
          <p:nvPr/>
        </p:nvSpPr>
        <p:spPr>
          <a:xfrm>
            <a:off x="5715000" y="5074920"/>
            <a:ext cx="4754520" cy="301320"/>
          </a:xfrm>
          <a:prstGeom prst="rect">
            <a:avLst/>
          </a:prstGeom>
          <a:solidFill>
            <a:srgbClr val="F4EFF8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7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Competitive, system-oriented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22"/>
          <p:cNvSpPr/>
          <p:nvPr/>
        </p:nvSpPr>
        <p:spPr>
          <a:xfrm>
            <a:off x="7680960" y="2103120"/>
            <a:ext cx="2880000" cy="868320"/>
          </a:xfrm>
          <a:prstGeom prst="rect">
            <a:avLst/>
          </a:prstGeom>
          <a:solidFill>
            <a:srgbClr val="FFF7D6"/>
          </a:solidFill>
          <a:ln w="9525">
            <a:solidFill>
              <a:srgbClr val="E6D2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3080" tIns="73080" rIns="73080" bIns="7308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180" b="1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Literature context: competitive with CNN baselines, below stronger recent attention models; contribution is system integration.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Page number 17"/>
          <p:cNvSpPr/>
          <p:nvPr/>
        </p:nvSpPr>
        <p:spPr>
          <a:xfrm>
            <a:off x="11109960" y="6473880"/>
            <a:ext cx="685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</a:pPr>
            <a:r>
              <a:rPr lang="en-US" sz="92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11 / 16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Slide title 2"/>
          <p:cNvSpPr/>
          <p:nvPr/>
        </p:nvSpPr>
        <p:spPr>
          <a:xfrm>
            <a:off x="411480" y="1207080"/>
            <a:ext cx="76806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500" b="1" u="none" strike="noStrike">
                <a:solidFill>
                  <a:srgbClr val="111111"/>
                </a:solidFill>
                <a:effectLst/>
                <a:uFillTx/>
                <a:latin typeface="Arial"/>
              </a:rPr>
              <a:t>OpenBCI-Oriented Channel Reduction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Accent 3"/>
          <p:cNvSpPr/>
          <p:nvPr/>
        </p:nvSpPr>
        <p:spPr>
          <a:xfrm>
            <a:off x="411480" y="1810440"/>
            <a:ext cx="10058040" cy="22680"/>
          </a:xfrm>
          <a:prstGeom prst="rect">
            <a:avLst/>
          </a:prstGeom>
          <a:solidFill>
            <a:srgbClr val="66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1960" rIns="90000" bIns="-219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7" name="Channel reduction 4"/>
          <p:cNvPicPr/>
          <p:nvPr/>
        </p:nvPicPr>
        <p:blipFill>
          <a:blip r:embed="rId1"/>
          <a:stretch/>
        </p:blipFill>
        <p:spPr>
          <a:xfrm>
            <a:off x="502920" y="2120040"/>
            <a:ext cx="5714640" cy="3038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8" name="Channel importance 5"/>
          <p:cNvPicPr/>
          <p:nvPr/>
        </p:nvPicPr>
        <p:blipFill>
          <a:blip r:embed="rId2"/>
          <a:stretch/>
        </p:blipFill>
        <p:spPr>
          <a:xfrm>
            <a:off x="6446520" y="2395440"/>
            <a:ext cx="4617360" cy="152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9" name="Stat 6"/>
          <p:cNvSpPr/>
          <p:nvPr/>
        </p:nvSpPr>
        <p:spPr>
          <a:xfrm>
            <a:off x="6537960" y="4663440"/>
            <a:ext cx="1416960" cy="68544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660099"/>
                </a:solidFill>
                <a:effectLst/>
                <a:uFillTx/>
                <a:latin typeface="Arial"/>
              </a:rPr>
              <a:t>C3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5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Largest ablation drop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Stat 7"/>
          <p:cNvSpPr/>
          <p:nvPr/>
        </p:nvSpPr>
        <p:spPr>
          <a:xfrm>
            <a:off x="8156520" y="4663440"/>
            <a:ext cx="1416960" cy="68544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660099"/>
                </a:solidFill>
                <a:effectLst/>
                <a:uFillTx/>
                <a:latin typeface="Arial"/>
              </a:rPr>
              <a:t>8 ch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5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OpenBCI-compatible montage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tat 8"/>
          <p:cNvSpPr/>
          <p:nvPr/>
        </p:nvSpPr>
        <p:spPr>
          <a:xfrm>
            <a:off x="9784080" y="4663440"/>
            <a:ext cx="1416960" cy="68544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72.54%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5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Fine-tuned accuracy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9"/>
          <p:cNvSpPr/>
          <p:nvPr/>
        </p:nvSpPr>
        <p:spPr>
          <a:xfrm>
            <a:off x="713160" y="5623560"/>
            <a:ext cx="10240920" cy="402120"/>
          </a:xfrm>
          <a:prstGeom prst="rect">
            <a:avLst/>
          </a:prstGeom>
          <a:solidFill>
            <a:srgbClr val="FFF7D6"/>
          </a:solidFill>
          <a:ln w="9525">
            <a:solidFill>
              <a:srgbClr val="E6D2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3080" tIns="73080" rIns="73080" bIns="7308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270" b="1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Boundary: this is offline evidence for an 8-channel montage; native live OpenBCI validation is future work.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Page number 18"/>
          <p:cNvSpPr/>
          <p:nvPr/>
        </p:nvSpPr>
        <p:spPr>
          <a:xfrm>
            <a:off x="11109960" y="6473880"/>
            <a:ext cx="685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</a:pPr>
            <a:r>
              <a:rPr lang="en-US" sz="92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12 / 16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Slide title 2"/>
          <p:cNvSpPr/>
          <p:nvPr/>
        </p:nvSpPr>
        <p:spPr>
          <a:xfrm>
            <a:off x="411480" y="1207080"/>
            <a:ext cx="76806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500" b="1" u="none" strike="noStrike">
                <a:solidFill>
                  <a:srgbClr val="111111"/>
                </a:solidFill>
                <a:effectLst/>
                <a:uFillTx/>
                <a:latin typeface="Arial"/>
              </a:rPr>
              <a:t>Robotic Control and RL Method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Accent 3"/>
          <p:cNvSpPr/>
          <p:nvPr/>
        </p:nvSpPr>
        <p:spPr>
          <a:xfrm>
            <a:off x="411480" y="1810440"/>
            <a:ext cx="10058040" cy="22680"/>
          </a:xfrm>
          <a:prstGeom prst="rect">
            <a:avLst/>
          </a:prstGeom>
          <a:solidFill>
            <a:srgbClr val="66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1960" rIns="90000" bIns="-219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6" name="Physical robot arm frame 4"/>
          <p:cNvPicPr/>
          <p:nvPr/>
        </p:nvPicPr>
        <p:blipFill>
          <a:blip r:embed="rId1"/>
          <a:stretch/>
        </p:blipFill>
        <p:spPr>
          <a:xfrm>
            <a:off x="640080" y="1921680"/>
            <a:ext cx="3977280" cy="2237040"/>
          </a:xfrm>
          <a:prstGeom prst="rect">
            <a:avLst/>
          </a:prstGeom>
          <a:noFill/>
          <a:ln w="12700">
            <a:solidFill>
              <a:srgbClr val="D9D9D9"/>
            </a:solidFill>
            <a:round/>
          </a:ln>
        </p:spPr>
      </p:pic>
      <p:pic>
        <p:nvPicPr>
          <p:cNvPr id="287" name="Robot arm animated GIF 5"/>
          <p:cNvPicPr/>
          <p:nvPr/>
        </p:nvPicPr>
        <p:blipFill>
          <a:blip r:embed="rId2"/>
          <a:stretch/>
        </p:blipFill>
        <p:spPr>
          <a:xfrm>
            <a:off x="103320" y="4320000"/>
            <a:ext cx="2416680" cy="2416680"/>
          </a:xfrm>
          <a:prstGeom prst="rect">
            <a:avLst/>
          </a:prstGeom>
          <a:noFill/>
          <a:ln w="12700">
            <a:solidFill>
              <a:srgbClr val="D9D9D9"/>
            </a:solidFill>
            <a:round/>
          </a:ln>
        </p:spPr>
      </p:pic>
      <p:sp>
        <p:nvSpPr>
          <p:cNvPr id="288" name="Text 6"/>
          <p:cNvSpPr/>
          <p:nvPr/>
        </p:nvSpPr>
        <p:spPr>
          <a:xfrm>
            <a:off x="2617200" y="4888800"/>
            <a:ext cx="24228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20" b="0" u="none" strike="noStrike">
                <a:solidFill>
                  <a:srgbClr val="595959"/>
                </a:solidFill>
                <a:effectLst/>
                <a:uFillTx/>
                <a:latin typeface="Arial"/>
              </a:rPr>
              <a:t>Top: physical SO-101 interface frame. Bottom: animated control GIF plays in PPTX; PDF shows a static frame.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7"/>
          <p:cNvSpPr/>
          <p:nvPr/>
        </p:nvSpPr>
        <p:spPr>
          <a:xfrm>
            <a:off x="4983480" y="1920240"/>
            <a:ext cx="5897520" cy="58500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660099"/>
                </a:solidFill>
                <a:effectLst/>
                <a:uFillTx/>
                <a:latin typeface="Arial"/>
              </a:rPr>
              <a:t>State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3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End-effector position, target position, distance, optional EEG class + confidence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8"/>
          <p:cNvSpPr/>
          <p:nvPr/>
        </p:nvSpPr>
        <p:spPr>
          <a:xfrm>
            <a:off x="4983480" y="2724840"/>
            <a:ext cx="5897520" cy="585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660099"/>
                </a:solidFill>
                <a:effectLst/>
                <a:uFillTx/>
                <a:latin typeface="Arial"/>
              </a:rPr>
              <a:t>Action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3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Four discrete directions: left, right, up, down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9"/>
          <p:cNvSpPr/>
          <p:nvPr/>
        </p:nvSpPr>
        <p:spPr>
          <a:xfrm>
            <a:off x="4983480" y="3529440"/>
            <a:ext cx="5897520" cy="58500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660099"/>
                </a:solidFill>
                <a:effectLst/>
                <a:uFillTx/>
                <a:latin typeface="Arial"/>
              </a:rPr>
              <a:t>Reward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3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Target reaching, distance improvement, step penalty, boundary penalty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10"/>
          <p:cNvSpPr/>
          <p:nvPr/>
        </p:nvSpPr>
        <p:spPr>
          <a:xfrm>
            <a:off x="4983480" y="4334400"/>
            <a:ext cx="5897520" cy="585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660099"/>
                </a:solidFill>
                <a:effectLst/>
                <a:uFillTx/>
                <a:latin typeface="Arial"/>
              </a:rPr>
              <a:t>Environment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3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PyBullet / planar reaching simplification before richer SO-101 manipulation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11"/>
          <p:cNvSpPr/>
          <p:nvPr/>
        </p:nvSpPr>
        <p:spPr>
          <a:xfrm>
            <a:off x="4983480" y="5440680"/>
            <a:ext cx="5897520" cy="438480"/>
          </a:xfrm>
          <a:prstGeom prst="rect">
            <a:avLst/>
          </a:prstGeom>
          <a:solidFill>
            <a:srgbClr val="F4EFF8"/>
          </a:solidFill>
          <a:ln w="9525">
            <a:solidFill>
              <a:srgbClr val="DDD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3080" tIns="73080" rIns="73080" bIns="7308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250" b="1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Controller role: use the current state to correct transient EEG misclassifications instead of blindly executing each label.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Page number 19"/>
          <p:cNvSpPr/>
          <p:nvPr/>
        </p:nvSpPr>
        <p:spPr>
          <a:xfrm>
            <a:off x="11109960" y="6473880"/>
            <a:ext cx="685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</a:pPr>
            <a:r>
              <a:rPr lang="en-US" sz="92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13 / 16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Slide title 2"/>
          <p:cNvSpPr/>
          <p:nvPr/>
        </p:nvSpPr>
        <p:spPr>
          <a:xfrm>
            <a:off x="411480" y="1207080"/>
            <a:ext cx="76806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500" b="1" u="none" strike="noStrike">
                <a:solidFill>
                  <a:srgbClr val="111111"/>
                </a:solidFill>
                <a:effectLst/>
                <a:uFillTx/>
                <a:latin typeface="Arial"/>
              </a:rPr>
              <a:t>RL Results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Accent 3"/>
          <p:cNvSpPr/>
          <p:nvPr/>
        </p:nvSpPr>
        <p:spPr>
          <a:xfrm>
            <a:off x="411480" y="1810440"/>
            <a:ext cx="10058040" cy="22680"/>
          </a:xfrm>
          <a:prstGeom prst="rect">
            <a:avLst/>
          </a:prstGeom>
          <a:solidFill>
            <a:srgbClr val="66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1960" rIns="90000" bIns="-219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7" name="RL architecture comparison 4"/>
          <p:cNvPicPr/>
          <p:nvPr/>
        </p:nvPicPr>
        <p:blipFill>
          <a:blip r:embed="rId1"/>
          <a:stretch/>
        </p:blipFill>
        <p:spPr>
          <a:xfrm>
            <a:off x="937440" y="1920240"/>
            <a:ext cx="5120280" cy="365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8" name="Stat 5"/>
          <p:cNvSpPr/>
          <p:nvPr/>
        </p:nvSpPr>
        <p:spPr>
          <a:xfrm>
            <a:off x="6812280" y="2194560"/>
            <a:ext cx="1828440" cy="77688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C55A11"/>
                </a:solidFill>
                <a:effectLst/>
                <a:uFillTx/>
                <a:latin typeface="Arial"/>
              </a:rPr>
              <a:t>97%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5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CNN+LSTM final reach rate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Stat 6"/>
          <p:cNvSpPr/>
          <p:nvPr/>
        </p:nvSpPr>
        <p:spPr>
          <a:xfrm>
            <a:off x="8961120" y="2194560"/>
            <a:ext cx="1828440" cy="77688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99%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5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Light Transformer reach rate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Stat 7"/>
          <p:cNvSpPr/>
          <p:nvPr/>
        </p:nvSpPr>
        <p:spPr>
          <a:xfrm>
            <a:off x="6812280" y="3383280"/>
            <a:ext cx="1828440" cy="77688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100%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5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2D benchmark reach rate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Stat 8"/>
          <p:cNvSpPr/>
          <p:nvPr/>
        </p:nvSpPr>
        <p:spPr>
          <a:xfrm>
            <a:off x="8961120" y="3383280"/>
            <a:ext cx="1828440" cy="77688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660099"/>
                </a:solidFill>
                <a:effectLst/>
                <a:uFillTx/>
                <a:latin typeface="Arial"/>
              </a:rPr>
              <a:t>10.39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5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Transformer final reward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9"/>
          <p:cNvSpPr/>
          <p:nvPr/>
        </p:nvSpPr>
        <p:spPr>
          <a:xfrm>
            <a:off x="6812280" y="4736520"/>
            <a:ext cx="3977280" cy="785880"/>
          </a:xfrm>
          <a:prstGeom prst="rect">
            <a:avLst/>
          </a:prstGeom>
          <a:solidFill>
            <a:srgbClr val="FFF7D6"/>
          </a:solidFill>
          <a:ln w="9525">
            <a:solidFill>
              <a:srgbClr val="E6D2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3080" tIns="73080" rIns="73080" bIns="7308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220" b="1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Under this simulated reaching protocol, the full Transformer scores highest; Light Transformer is a practical trade-off.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Page number 20"/>
          <p:cNvSpPr/>
          <p:nvPr/>
        </p:nvSpPr>
        <p:spPr>
          <a:xfrm>
            <a:off x="11109960" y="6473880"/>
            <a:ext cx="685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</a:pPr>
            <a:r>
              <a:rPr lang="en-US" sz="92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14 / 16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Slide title 2"/>
          <p:cNvSpPr/>
          <p:nvPr/>
        </p:nvSpPr>
        <p:spPr>
          <a:xfrm>
            <a:off x="411480" y="1207080"/>
            <a:ext cx="76806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500" b="1" u="none" strike="noStrike">
                <a:solidFill>
                  <a:srgbClr val="111111"/>
                </a:solidFill>
                <a:effectLst/>
                <a:uFillTx/>
                <a:latin typeface="Arial"/>
              </a:rPr>
              <a:t>End-to-End Results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Accent 3"/>
          <p:cNvSpPr/>
          <p:nvPr/>
        </p:nvSpPr>
        <p:spPr>
          <a:xfrm>
            <a:off x="411480" y="1810440"/>
            <a:ext cx="10058040" cy="22680"/>
          </a:xfrm>
          <a:prstGeom prst="rect">
            <a:avLst/>
          </a:prstGeom>
          <a:solidFill>
            <a:srgbClr val="66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1960" rIns="90000" bIns="-219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Stat 4"/>
          <p:cNvSpPr/>
          <p:nvPr/>
        </p:nvSpPr>
        <p:spPr>
          <a:xfrm>
            <a:off x="731520" y="2084760"/>
            <a:ext cx="1782720" cy="74952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C55A11"/>
                </a:solidFill>
                <a:effectLst/>
                <a:uFillTx/>
                <a:latin typeface="Arial"/>
              </a:rPr>
              <a:t>82.22%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5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EEG accuracy on 630 trials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Stat 5"/>
          <p:cNvSpPr/>
          <p:nvPr/>
        </p:nvSpPr>
        <p:spPr>
          <a:xfrm>
            <a:off x="2788920" y="2084760"/>
            <a:ext cx="1782720" cy="74952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98.7%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5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EEG-aware reach rate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Stat 6"/>
          <p:cNvSpPr/>
          <p:nvPr/>
        </p:nvSpPr>
        <p:spPr>
          <a:xfrm>
            <a:off x="4846320" y="2084760"/>
            <a:ext cx="1782720" cy="74952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99.0%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5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State-only reach rate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Stat 7"/>
          <p:cNvSpPr/>
          <p:nvPr/>
        </p:nvSpPr>
        <p:spPr>
          <a:xfrm>
            <a:off x="6903720" y="2084760"/>
            <a:ext cx="1782720" cy="74952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660099"/>
                </a:solidFill>
                <a:effectLst/>
                <a:uFillTx/>
                <a:latin typeface="Arial"/>
              </a:rPr>
              <a:t>668s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5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With EEG state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Stat 8"/>
          <p:cNvSpPr/>
          <p:nvPr/>
        </p:nvSpPr>
        <p:spPr>
          <a:xfrm>
            <a:off x="8961120" y="2084760"/>
            <a:ext cx="1782720" cy="74952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2F5597"/>
                </a:solidFill>
                <a:effectLst/>
                <a:uFillTx/>
                <a:latin typeface="Arial"/>
              </a:rPr>
              <a:t>1130s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5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Without EEG state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9"/>
          <p:cNvSpPr/>
          <p:nvPr/>
        </p:nvSpPr>
        <p:spPr>
          <a:xfrm>
            <a:off x="777240" y="3273480"/>
            <a:ext cx="4891680" cy="157248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3080" tIns="73080" rIns="73080" bIns="7308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500" b="1" u="none" strike="noStrike">
                <a:solidFill>
                  <a:srgbClr val="660099"/>
                </a:solidFill>
                <a:effectLst/>
                <a:uFillTx/>
                <a:latin typeface="Arial"/>
              </a:rPr>
              <a:t>Why control can exceed decoding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1240" indent="-146160" defTabSz="914400">
              <a:lnSpc>
                <a:spcPct val="100000"/>
              </a:lnSpc>
              <a:buClr>
                <a:srgbClr val="333333"/>
              </a:buClr>
              <a:buFont typeface="Arial"/>
              <a:buChar char="•"/>
            </a:pPr>
            <a:r>
              <a:rPr lang="en-US" sz="117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The DQN does not execute each class label blindly.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1240" indent="-146160" defTabSz="914400">
              <a:lnSpc>
                <a:spcPct val="100000"/>
              </a:lnSpc>
              <a:buClr>
                <a:srgbClr val="333333"/>
              </a:buClr>
              <a:buFont typeface="Arial"/>
              <a:buChar char="•"/>
            </a:pPr>
            <a:r>
              <a:rPr lang="en-US" sz="117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It observes state, target distance, class, and confidence over multiple steps.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1240" indent="-146160" defTabSz="914400">
              <a:lnSpc>
                <a:spcPct val="100000"/>
              </a:lnSpc>
              <a:buClr>
                <a:srgbClr val="333333"/>
              </a:buClr>
              <a:buFont typeface="Arial"/>
              <a:buChar char="•"/>
            </a:pPr>
            <a:r>
              <a:rPr lang="en-US" sz="117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Reward feedback allows wrong directional cues to be corrected.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10"/>
          <p:cNvSpPr/>
          <p:nvPr/>
        </p:nvSpPr>
        <p:spPr>
          <a:xfrm>
            <a:off x="5943600" y="3273480"/>
            <a:ext cx="4891680" cy="1572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3080" tIns="73080" rIns="73080" bIns="7308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500" b="1" u="none" strike="noStrike">
                <a:solidFill>
                  <a:srgbClr val="660099"/>
                </a:solidFill>
                <a:effectLst/>
                <a:uFillTx/>
                <a:latin typeface="Arial"/>
              </a:rPr>
              <a:t>What EEG added in this test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1240" indent="-146160" defTabSz="914400">
              <a:lnSpc>
                <a:spcPct val="100000"/>
              </a:lnSpc>
              <a:buClr>
                <a:srgbClr val="333333"/>
              </a:buClr>
              <a:buFont typeface="Arial"/>
              <a:buChar char="•"/>
            </a:pPr>
            <a:r>
              <a:rPr lang="en-US" sz="117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Final reach rate was similar: 98.7% with EEG vs 99.0% state-only.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1240" indent="-146160" defTabSz="914400">
              <a:lnSpc>
                <a:spcPct val="100000"/>
              </a:lnSpc>
              <a:buClr>
                <a:srgbClr val="333333"/>
              </a:buClr>
              <a:buFont typeface="Arial"/>
              <a:buChar char="•"/>
            </a:pPr>
            <a:r>
              <a:rPr lang="en-US" sz="117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Training was faster with EEG evidence: 668 s vs 1130 s.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1240" indent="-146160" defTabSz="914400">
              <a:lnSpc>
                <a:spcPct val="100000"/>
              </a:lnSpc>
              <a:buClr>
                <a:srgbClr val="333333"/>
              </a:buClr>
              <a:buFont typeface="Arial"/>
              <a:buChar char="•"/>
            </a:pPr>
            <a:r>
              <a:rPr lang="en-US" sz="117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This supports usefulness, not proof that EEG is essential in the simplified task.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11"/>
          <p:cNvSpPr/>
          <p:nvPr/>
        </p:nvSpPr>
        <p:spPr>
          <a:xfrm>
            <a:off x="777240" y="5376600"/>
            <a:ext cx="10378080" cy="438480"/>
          </a:xfrm>
          <a:prstGeom prst="rect">
            <a:avLst/>
          </a:prstGeom>
          <a:solidFill>
            <a:srgbClr val="FFF7D6"/>
          </a:solidFill>
          <a:ln w="9525">
            <a:solidFill>
              <a:srgbClr val="E6D2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200" b="1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Main interpretation: closed-loop DQN compensates for imperfect EEG; EEG evidence mainly accelerates learning in this simulation.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Page number 21"/>
          <p:cNvSpPr/>
          <p:nvPr/>
        </p:nvSpPr>
        <p:spPr>
          <a:xfrm>
            <a:off x="11109960" y="6473880"/>
            <a:ext cx="685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</a:pPr>
            <a:r>
              <a:rPr lang="en-US" sz="92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15 / 16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Slide title 2"/>
          <p:cNvSpPr/>
          <p:nvPr/>
        </p:nvSpPr>
        <p:spPr>
          <a:xfrm>
            <a:off x="411480" y="1207080"/>
            <a:ext cx="76806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500" b="1" u="none" strike="noStrike">
                <a:solidFill>
                  <a:srgbClr val="111111"/>
                </a:solidFill>
                <a:effectLst/>
                <a:uFillTx/>
                <a:latin typeface="Arial"/>
              </a:rPr>
              <a:t>Discussion, Conclusion, and Next Steps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Accent 3"/>
          <p:cNvSpPr/>
          <p:nvPr/>
        </p:nvSpPr>
        <p:spPr>
          <a:xfrm>
            <a:off x="411480" y="1810440"/>
            <a:ext cx="10058040" cy="22680"/>
          </a:xfrm>
          <a:prstGeom prst="rect">
            <a:avLst/>
          </a:prstGeom>
          <a:solidFill>
            <a:srgbClr val="66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1960" rIns="90000" bIns="-219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4"/>
          <p:cNvSpPr/>
          <p:nvPr/>
        </p:nvSpPr>
        <p:spPr>
          <a:xfrm>
            <a:off x="594360" y="2057400"/>
            <a:ext cx="3245760" cy="283428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3080" tIns="73080" rIns="73080" bIns="7308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500" b="1" u="none" strike="noStrike">
                <a:solidFill>
                  <a:srgbClr val="660099"/>
                </a:solidFill>
                <a:effectLst/>
                <a:uFillTx/>
                <a:latin typeface="Arial"/>
              </a:rPr>
              <a:t>What was shown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1240" indent="-146160" defTabSz="914400">
              <a:lnSpc>
                <a:spcPct val="100000"/>
              </a:lnSpc>
              <a:buClr>
                <a:srgbClr val="333333"/>
              </a:buClr>
              <a:buFont typeface="Arial"/>
              <a:buChar char="•"/>
            </a:pPr>
            <a:r>
              <a:rPr lang="en-US" sz="109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EEGTransformer works competitively: 73.80%, 82.87%, 88.78%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1240" indent="-146160" defTabSz="914400">
              <a:lnSpc>
                <a:spcPct val="100000"/>
              </a:lnSpc>
              <a:buClr>
                <a:srgbClr val="333333"/>
              </a:buClr>
              <a:buFont typeface="Arial"/>
              <a:buChar char="•"/>
            </a:pPr>
            <a:r>
              <a:rPr lang="en-US" sz="109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Fine-tuning reduces cross-subject weakness: 56.54% -&gt; 88.78%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1240" indent="-146160" defTabSz="914400">
              <a:lnSpc>
                <a:spcPct val="100000"/>
              </a:lnSpc>
              <a:buClr>
                <a:srgbClr val="333333"/>
              </a:buClr>
              <a:buFont typeface="Arial"/>
              <a:buChar char="•"/>
            </a:pPr>
            <a:r>
              <a:rPr lang="en-US" sz="109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8-channel montage remains usable offline: 72.54%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1240" indent="-146160" defTabSz="914400">
              <a:lnSpc>
                <a:spcPct val="100000"/>
              </a:lnSpc>
              <a:buClr>
                <a:srgbClr val="333333"/>
              </a:buClr>
              <a:buFont typeface="Arial"/>
              <a:buChar char="•"/>
            </a:pPr>
            <a:r>
              <a:rPr lang="en-US" sz="109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End-to-end simulation: 98.7% EEG-aware, 99.0% state-only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5"/>
          <p:cNvSpPr/>
          <p:nvPr/>
        </p:nvSpPr>
        <p:spPr>
          <a:xfrm>
            <a:off x="4178880" y="2057400"/>
            <a:ext cx="3245760" cy="2834280"/>
          </a:xfrm>
          <a:prstGeom prst="rect">
            <a:avLst/>
          </a:prstGeom>
          <a:solidFill>
            <a:srgbClr val="FFF7D6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3080" tIns="73080" rIns="73080" bIns="7308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500" b="1" u="none" strike="noStrike">
                <a:solidFill>
                  <a:srgbClr val="660099"/>
                </a:solidFill>
                <a:effectLst/>
                <a:uFillTx/>
                <a:latin typeface="Arial"/>
              </a:rPr>
              <a:t>What was not shown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1240" indent="-146160" defTabSz="914400">
              <a:lnSpc>
                <a:spcPct val="100000"/>
              </a:lnSpc>
              <a:buClr>
                <a:srgbClr val="333333"/>
              </a:buClr>
              <a:buFont typeface="Arial"/>
              <a:buChar char="•"/>
            </a:pPr>
            <a:r>
              <a:rPr lang="en-US" sz="109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No live human-subject EEG control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1240" indent="-146160" defTabSz="914400">
              <a:lnSpc>
                <a:spcPct val="100000"/>
              </a:lnSpc>
              <a:buClr>
                <a:srgbClr val="333333"/>
              </a:buClr>
              <a:buFont typeface="Arial"/>
              <a:buChar char="•"/>
            </a:pPr>
            <a:r>
              <a:rPr lang="en-US" sz="109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BrainFlow was synthetic-board interface validation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1240" indent="-146160" defTabSz="914400">
              <a:lnSpc>
                <a:spcPct val="100000"/>
              </a:lnSpc>
              <a:buClr>
                <a:srgbClr val="333333"/>
              </a:buClr>
              <a:buFont typeface="Arial"/>
              <a:buChar char="•"/>
            </a:pPr>
            <a:r>
              <a:rPr lang="en-US" sz="109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8-channel OpenBCI result is offline, not native live deployment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1240" indent="-146160" defTabSz="914400">
              <a:lnSpc>
                <a:spcPct val="100000"/>
              </a:lnSpc>
              <a:buClr>
                <a:srgbClr val="333333"/>
              </a:buClr>
              <a:buFont typeface="Arial"/>
              <a:buChar char="•"/>
            </a:pPr>
            <a:r>
              <a:rPr lang="en-US" sz="109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4 s online window may be too slow for real-time use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6"/>
          <p:cNvSpPr/>
          <p:nvPr/>
        </p:nvSpPr>
        <p:spPr>
          <a:xfrm>
            <a:off x="7763400" y="2057400"/>
            <a:ext cx="3245760" cy="2834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3080" tIns="73080" rIns="73080" bIns="7308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500" b="1" u="none" strike="noStrike">
                <a:solidFill>
                  <a:srgbClr val="660099"/>
                </a:solidFill>
                <a:effectLst/>
                <a:uFillTx/>
                <a:latin typeface="Arial"/>
              </a:rPr>
              <a:t>Next steps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1240" indent="-146160" defTabSz="914400">
              <a:lnSpc>
                <a:spcPct val="100000"/>
              </a:lnSpc>
              <a:buClr>
                <a:srgbClr val="333333"/>
              </a:buClr>
              <a:buFont typeface="Arial"/>
              <a:buChar char="•"/>
            </a:pPr>
            <a:r>
              <a:rPr lang="en-US" sz="109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Ethics-approved live-user OpenBCI study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1240" indent="-146160" defTabSz="914400">
              <a:lnSpc>
                <a:spcPct val="100000"/>
              </a:lnSpc>
              <a:buClr>
                <a:srgbClr val="333333"/>
              </a:buClr>
              <a:buFont typeface="Arial"/>
              <a:buChar char="•"/>
            </a:pPr>
            <a:r>
              <a:rPr lang="en-US" sz="109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Native real-time 8-channel inference path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1240" indent="-146160" defTabSz="914400">
              <a:lnSpc>
                <a:spcPct val="100000"/>
              </a:lnSpc>
              <a:buClr>
                <a:srgbClr val="333333"/>
              </a:buClr>
              <a:buFont typeface="Arial"/>
              <a:buChar char="•"/>
            </a:pPr>
            <a:r>
              <a:rPr lang="en-US" sz="109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Shorter overlapping windows or asynchronous MI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1240" indent="-146160" defTabSz="914400">
              <a:lnSpc>
                <a:spcPct val="100000"/>
              </a:lnSpc>
              <a:buClr>
                <a:srgbClr val="333333"/>
              </a:buClr>
              <a:buFont typeface="Arial"/>
              <a:buChar char="•"/>
            </a:pPr>
            <a:r>
              <a:rPr lang="en-US" sz="109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Richer SO-101 manipulation beyond planar reaching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7"/>
          <p:cNvSpPr/>
          <p:nvPr/>
        </p:nvSpPr>
        <p:spPr>
          <a:xfrm>
            <a:off x="594360" y="5440680"/>
            <a:ext cx="10560960" cy="438480"/>
          </a:xfrm>
          <a:prstGeom prst="rect">
            <a:avLst/>
          </a:prstGeom>
          <a:solidFill>
            <a:srgbClr val="FFF7D6"/>
          </a:solidFill>
          <a:ln w="9525">
            <a:solidFill>
              <a:srgbClr val="E6D2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3080" tIns="73080" rIns="73080" bIns="7308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260" b="1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Validation boundary: EEG classification is offline; control is simulated; live human closed-loop testing requires ethical approval.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Page number 22"/>
          <p:cNvSpPr/>
          <p:nvPr/>
        </p:nvSpPr>
        <p:spPr>
          <a:xfrm>
            <a:off x="11109960" y="6473880"/>
            <a:ext cx="685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</a:pPr>
            <a:r>
              <a:rPr lang="en-US" sz="92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16 / 16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HERE templat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UoM_powerpoint_169_acasson</Template>
  <TotalTime>15</TotalTime>
  <Application>LibreOffice/26.2.2.2$Linux_X86_64 LibreOffice_project/620$Build-2</Application>
  <AppVersion>15.0000</AppVersion>
  <Words>950</Words>
  <Paragraphs>9</Paragraphs>
  <Company>University of Manchester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2026-05-14T11:10:29Z</dcterms:created>
  <dc:creator>Zheng Xu</dc:creator>
  <dc:description/>
  <dc:language>zh-CN</dc:language>
  <cp:lastModifiedBy/>
  <dcterms:modified xsi:type="dcterms:W3CDTF">2026-05-14T12:11:59Z</dcterms:modified>
  <cp:revision>2</cp:revision>
  <dc:subject/>
  <dc:title>A Brain-Computer Interface Control System Design Based on Deep Learning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16</vt:i4>
  </property>
</Properties>
</file>
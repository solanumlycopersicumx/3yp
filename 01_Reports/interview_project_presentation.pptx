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这一页建议</a:t>
            </a:r>
            <a:r>
              <a:rPr/>
              <a:t> </a:t>
            </a:r>
            <a:r>
              <a:rPr/>
              <a:t>20</a:t>
            </a:r>
            <a:r>
              <a:rPr/>
              <a:t> </a:t>
            </a:r>
            <a:r>
              <a:rPr/>
              <a:t>到</a:t>
            </a:r>
            <a:r>
              <a:rPr/>
              <a:t> </a:t>
            </a:r>
            <a:r>
              <a:rPr/>
              <a:t>30</a:t>
            </a:r>
            <a:r>
              <a:rPr/>
              <a:t> </a:t>
            </a:r>
            <a:r>
              <a:rPr/>
              <a:t>秒。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可以直接说：</a:t>
            </a:r>
            <a:r>
              <a:rPr/>
              <a:t> </a:t>
            </a:r>
            <a:r>
              <a:rPr/>
              <a:t>“</a:t>
            </a:r>
            <a:r>
              <a:rPr/>
              <a:t>这个项目不是只做</a:t>
            </a:r>
            <a:r>
              <a:rPr/>
              <a:t> </a:t>
            </a:r>
            <a:r>
              <a:rPr/>
              <a:t>EEG</a:t>
            </a:r>
            <a:r>
              <a:rPr/>
              <a:t> </a:t>
            </a:r>
            <a:r>
              <a:rPr/>
              <a:t>分类，而是做一个完整的闭环控制系统。我负责了</a:t>
            </a:r>
            <a:r>
              <a:rPr/>
              <a:t> </a:t>
            </a:r>
            <a:r>
              <a:rPr/>
              <a:t>EEG</a:t>
            </a:r>
            <a:r>
              <a:rPr/>
              <a:t> </a:t>
            </a:r>
            <a:r>
              <a:rPr/>
              <a:t>预处理、Transformer</a:t>
            </a:r>
            <a:r>
              <a:rPr/>
              <a:t> </a:t>
            </a:r>
            <a:r>
              <a:rPr/>
              <a:t>分类器、强化学习控制器、仿真验证，以及面向</a:t>
            </a:r>
            <a:r>
              <a:rPr/>
              <a:t> </a:t>
            </a:r>
            <a:r>
              <a:rPr/>
              <a:t>OpenBCI</a:t>
            </a:r>
            <a:r>
              <a:rPr/>
              <a:t> </a:t>
            </a:r>
            <a:r>
              <a:rPr/>
              <a:t>和</a:t>
            </a:r>
            <a:r>
              <a:rPr/>
              <a:t> </a:t>
            </a:r>
            <a:r>
              <a:rPr/>
              <a:t>SO-101</a:t>
            </a:r>
            <a:r>
              <a:rPr/>
              <a:t> </a:t>
            </a:r>
            <a:r>
              <a:rPr/>
              <a:t>的部署接口。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这一页要把项目讲成系统问题，而不是单纯论文问题。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推荐讲法：</a:t>
            </a:r>
            <a:r>
              <a:rPr/>
              <a:t> </a:t>
            </a:r>
            <a:r>
              <a:rPr/>
              <a:t>“</a:t>
            </a:r>
            <a:r>
              <a:rPr/>
              <a:t>如果把</a:t>
            </a:r>
            <a:r>
              <a:rPr/>
              <a:t> </a:t>
            </a:r>
            <a:r>
              <a:rPr/>
              <a:t>EEG</a:t>
            </a:r>
            <a:r>
              <a:rPr/>
              <a:t> </a:t>
            </a:r>
            <a:r>
              <a:rPr/>
              <a:t>分类器看成感知模块，这个项目本质上是在做感知有噪声时，控制系统如何保持鲁棒。这和机器人里的感知误差、决策纠错、闭环控制是同一个问题。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这一页顺着图从左往右讲。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重点强调：</a:t>
            </a:r>
            <a:r>
              <a:rPr/>
              <a:t> </a:t>
            </a:r>
            <a:r>
              <a:rPr/>
              <a:t>“</a:t>
            </a:r>
            <a:r>
              <a:rPr/>
              <a:t>我没有把分类结果直接映射成动作，而是把它作为决策输入的一部分，让</a:t>
            </a:r>
            <a:r>
              <a:rPr/>
              <a:t> </a:t>
            </a:r>
            <a:r>
              <a:rPr/>
              <a:t>DQN</a:t>
            </a:r>
            <a:r>
              <a:rPr/>
              <a:t> </a:t>
            </a:r>
            <a:r>
              <a:rPr/>
              <a:t>在闭环环境里学习纠错，所以系统对分类误差更鲁棒。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这里不要只说</a:t>
            </a:r>
            <a:r>
              <a:rPr/>
              <a:t>“</a:t>
            </a:r>
            <a:r>
              <a:rPr/>
              <a:t>用了</a:t>
            </a:r>
            <a:r>
              <a:rPr/>
              <a:t> </a:t>
            </a:r>
            <a:r>
              <a:rPr/>
              <a:t>Transformer</a:t>
            </a:r>
            <a:r>
              <a:rPr/>
              <a:t>”</a:t>
            </a:r>
            <a:r>
              <a:rPr/>
              <a:t>，而要说</a:t>
            </a:r>
            <a:r>
              <a:rPr/>
              <a:t>“</a:t>
            </a:r>
            <a:r>
              <a:rPr/>
              <a:t>为什么这样设计</a:t>
            </a:r>
            <a:r>
              <a:rPr/>
              <a:t>”</a:t>
            </a:r>
            <a:r>
              <a:rPr/>
              <a:t>。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可以这样讲：</a:t>
            </a:r>
            <a:r>
              <a:rPr/>
              <a:t> </a:t>
            </a:r>
            <a:r>
              <a:rPr/>
              <a:t>“</a:t>
            </a:r>
            <a:r>
              <a:rPr/>
              <a:t>单纯</a:t>
            </a:r>
            <a:r>
              <a:rPr/>
              <a:t> </a:t>
            </a:r>
            <a:r>
              <a:rPr/>
              <a:t>CNN</a:t>
            </a:r>
            <a:r>
              <a:rPr/>
              <a:t> </a:t>
            </a:r>
            <a:r>
              <a:rPr/>
              <a:t>擅长局部模式，单纯</a:t>
            </a:r>
            <a:r>
              <a:rPr/>
              <a:t> </a:t>
            </a:r>
            <a:r>
              <a:rPr/>
              <a:t>Transformer</a:t>
            </a:r>
            <a:r>
              <a:rPr/>
              <a:t> </a:t>
            </a:r>
            <a:r>
              <a:rPr/>
              <a:t>又缺少</a:t>
            </a:r>
            <a:r>
              <a:rPr/>
              <a:t> </a:t>
            </a:r>
            <a:r>
              <a:rPr/>
              <a:t>EEG</a:t>
            </a:r>
            <a:r>
              <a:rPr/>
              <a:t> </a:t>
            </a:r>
            <a:r>
              <a:rPr/>
              <a:t>的空间</a:t>
            </a:r>
            <a:r>
              <a:rPr/>
              <a:t> </a:t>
            </a:r>
            <a:r>
              <a:rPr/>
              <a:t>inductive</a:t>
            </a:r>
            <a:r>
              <a:rPr/>
              <a:t> </a:t>
            </a:r>
            <a:r>
              <a:rPr/>
              <a:t>bias，所以我把两者结合。再通过跨被试预训练和个体微调，把泛化性和可部署性结合起来。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这一页建议用来强化</a:t>
            </a:r>
            <a:r>
              <a:rPr/>
              <a:t>“</a:t>
            </a:r>
            <a:r>
              <a:rPr/>
              <a:t>泛化能力</a:t>
            </a:r>
            <a:r>
              <a:rPr/>
              <a:t>”</a:t>
            </a:r>
            <a:r>
              <a:rPr/>
              <a:t>和</a:t>
            </a:r>
            <a:r>
              <a:rPr/>
              <a:t>“</a:t>
            </a:r>
            <a:r>
              <a:rPr/>
              <a:t>低校准成本</a:t>
            </a:r>
            <a:r>
              <a:rPr/>
              <a:t>”</a:t>
            </a:r>
            <a:r>
              <a:rPr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推荐讲法：</a:t>
            </a:r>
            <a:r>
              <a:rPr/>
              <a:t> </a:t>
            </a:r>
            <a:r>
              <a:rPr/>
              <a:t>“</a:t>
            </a:r>
            <a:r>
              <a:rPr/>
              <a:t>对真实系统来说，最重要的不是离线刷高分，而是新用户接入时能否快速适配。这里的结果说明预训练模型确实提供了一个强初始化。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这一页要体现工程判断，不是把复杂方法都堆上去。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可以说：</a:t>
            </a:r>
            <a:r>
              <a:rPr/>
              <a:t> </a:t>
            </a:r>
            <a:r>
              <a:rPr/>
              <a:t>“</a:t>
            </a:r>
            <a:r>
              <a:rPr/>
              <a:t>我做了可控消融后发现，带通滤波是必要的，但</a:t>
            </a:r>
            <a:r>
              <a:rPr/>
              <a:t> </a:t>
            </a:r>
            <a:r>
              <a:rPr/>
              <a:t>ICA</a:t>
            </a:r>
            <a:r>
              <a:rPr/>
              <a:t> </a:t>
            </a:r>
            <a:r>
              <a:rPr/>
              <a:t>收益很小且不稳定，所以最终主流程保留</a:t>
            </a:r>
            <a:r>
              <a:rPr/>
              <a:t> </a:t>
            </a:r>
            <a:r>
              <a:rPr/>
              <a:t>bandpass-only。这种取舍更适合真实部署。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这页用图辅助说明，不需要讲太久。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一句话即可：</a:t>
            </a:r>
            <a:r>
              <a:rPr/>
              <a:t> </a:t>
            </a:r>
            <a:r>
              <a:rPr/>
              <a:t>“</a:t>
            </a:r>
            <a:r>
              <a:rPr/>
              <a:t>这张图说明性能会随着通道数减少而下降，但</a:t>
            </a:r>
            <a:r>
              <a:rPr/>
              <a:t> </a:t>
            </a:r>
            <a:r>
              <a:rPr/>
              <a:t>8</a:t>
            </a:r>
            <a:r>
              <a:rPr/>
              <a:t> </a:t>
            </a:r>
            <a:r>
              <a:rPr/>
              <a:t>通道在微调后仍然保留了可部署价值，不是简单失效。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这里要把项目讲成</a:t>
            </a:r>
            <a:r>
              <a:rPr/>
              <a:t>“</a:t>
            </a:r>
            <a:r>
              <a:rPr/>
              <a:t>决策算法</a:t>
            </a:r>
            <a:r>
              <a:rPr/>
              <a:t>”</a:t>
            </a:r>
            <a:r>
              <a:rPr/>
              <a:t>。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可以说：</a:t>
            </a:r>
            <a:r>
              <a:rPr/>
              <a:t> </a:t>
            </a:r>
            <a:r>
              <a:rPr/>
              <a:t>“</a:t>
            </a:r>
            <a:r>
              <a:rPr/>
              <a:t>分类器只负责提供有噪声的方向线索，真正决定动作的是闭环</a:t>
            </a:r>
            <a:r>
              <a:rPr/>
              <a:t> </a:t>
            </a:r>
            <a:r>
              <a:rPr/>
              <a:t>DQN。它结合当前状态连续修正轨迹，所以本质上是在学习一个鲁棒决策策略。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先给图，再在下一页讲结论。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这是最关键的一页。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建议直接讲：</a:t>
            </a:r>
            <a:r>
              <a:rPr/>
              <a:t> </a:t>
            </a:r>
            <a:r>
              <a:rPr/>
              <a:t>“</a:t>
            </a:r>
            <a:r>
              <a:rPr/>
              <a:t>最能说明项目价值的不是单个分类指标，而是分类只有</a:t>
            </a:r>
            <a:r>
              <a:rPr/>
              <a:t> </a:t>
            </a:r>
            <a:r>
              <a:rPr/>
              <a:t>82.22%</a:t>
            </a:r>
            <a:r>
              <a:rPr/>
              <a:t> </a:t>
            </a:r>
            <a:r>
              <a:rPr/>
              <a:t>时，控制成功率仍然有</a:t>
            </a:r>
            <a:r>
              <a:rPr/>
              <a:t> </a:t>
            </a:r>
            <a:r>
              <a:rPr/>
              <a:t>99%。这说明闭环决策模块真正吸收了感知噪声。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这里要诚实区分</a:t>
            </a:r>
            <a:r>
              <a:rPr/>
              <a:t>“</a:t>
            </a:r>
            <a:r>
              <a:rPr/>
              <a:t>已验证</a:t>
            </a:r>
            <a:r>
              <a:rPr/>
              <a:t>”</a:t>
            </a:r>
            <a:r>
              <a:rPr/>
              <a:t>和</a:t>
            </a:r>
            <a:r>
              <a:rPr/>
              <a:t>“</a:t>
            </a:r>
            <a:r>
              <a:rPr/>
              <a:t>待验证</a:t>
            </a:r>
            <a:r>
              <a:rPr/>
              <a:t>”</a:t>
            </a:r>
            <a:r>
              <a:rPr/>
              <a:t>。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可用说法：</a:t>
            </a:r>
            <a:r>
              <a:rPr/>
              <a:t> </a:t>
            </a:r>
            <a:r>
              <a:rPr/>
              <a:t>“</a:t>
            </a:r>
            <a:r>
              <a:rPr/>
              <a:t>我已经把面向真实系统需要的软件链路和硬件接口都打通了，但真人在线闭环实验还没做，所以我会明确把这部分说成</a:t>
            </a:r>
            <a:r>
              <a:rPr/>
              <a:t> </a:t>
            </a:r>
            <a:r>
              <a:rPr/>
              <a:t>deployment-ready</a:t>
            </a:r>
            <a:r>
              <a:rPr/>
              <a:t> </a:t>
            </a:r>
            <a:r>
              <a:rPr/>
              <a:t>interface，而不是</a:t>
            </a:r>
            <a:r>
              <a:rPr/>
              <a:t> </a:t>
            </a:r>
            <a:r>
              <a:rPr/>
              <a:t>fully</a:t>
            </a:r>
            <a:r>
              <a:rPr/>
              <a:t> </a:t>
            </a:r>
            <a:r>
              <a:rPr/>
              <a:t>validated</a:t>
            </a:r>
            <a:r>
              <a:rPr/>
              <a:t> </a:t>
            </a:r>
            <a:r>
              <a:rPr/>
              <a:t>live</a:t>
            </a:r>
            <a:r>
              <a:rPr/>
              <a:t> </a:t>
            </a:r>
            <a:r>
              <a:rPr/>
              <a:t>system。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最后一页用于收束。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如果面试官偏机器人方向，可以落到：</a:t>
            </a:r>
            <a:r>
              <a:rPr/>
              <a:t> </a:t>
            </a:r>
            <a:r>
              <a:rPr/>
              <a:t>“</a:t>
            </a:r>
            <a:r>
              <a:rPr/>
              <a:t>虽然任务载体是</a:t>
            </a:r>
            <a:r>
              <a:rPr/>
              <a:t> </a:t>
            </a:r>
            <a:r>
              <a:rPr/>
              <a:t>BCI</a:t>
            </a:r>
            <a:r>
              <a:rPr/>
              <a:t> </a:t>
            </a:r>
            <a:r>
              <a:rPr/>
              <a:t>机械臂，但我解决的问题本质上是感知-决策-执行闭环鲁棒性，这和机器人决策算法岗位关注的问题高度一致。</a:t>
            </a:r>
            <a:r>
              <a:rPr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基于深度学习的</a:t>
            </a:r>
            <a:r>
              <a:rPr/>
              <a:t> </a:t>
            </a:r>
            <a:r>
              <a:rPr/>
              <a:t>BCI</a:t>
            </a:r>
            <a:r>
              <a:rPr/>
              <a:t> </a:t>
            </a:r>
            <a:r>
              <a:rPr/>
              <a:t>机械臂闭环控制系统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适合面试讲述的项目版 PPT</a:t>
            </a:r>
          </a:p>
          <a:p>
            <a:pPr lvl="1"/>
            <a:r>
              <a:rPr/>
              <a:t>目标：把嘈杂的运动想象 EEG 信号转成稳定的机械臂控制</a:t>
            </a:r>
          </a:p>
          <a:p>
            <a:pPr lvl="1"/>
            <a:r>
              <a:rPr/>
              <a:t>方法：</a:t>
            </a:r>
            <a:r>
              <a:rPr>
                <a:latin typeface="Courier"/>
              </a:rPr>
              <a:t>EEGTransformer + Transfer Learning + Transformer DQN</a:t>
            </a:r>
          </a:p>
          <a:p>
            <a:pPr lvl="1"/>
            <a:r>
              <a:rPr/>
              <a:t>亮点：</a:t>
            </a:r>
            <a:r>
              <a:rPr>
                <a:latin typeface="Courier"/>
              </a:rPr>
              <a:t>82.22%</a:t>
            </a:r>
            <a:r>
              <a:rPr/>
              <a:t> 感知精度下，闭环控制仍达到 </a:t>
            </a:r>
            <a:r>
              <a:rPr>
                <a:latin typeface="Courier"/>
              </a:rPr>
              <a:t>99%</a:t>
            </a:r>
            <a:r>
              <a:rPr/>
              <a:t> 成功率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我解决的问题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传统 MI-BCI 机械臂控制的三个瓶颈：</a:t>
            </a:r>
          </a:p>
          <a:p>
            <a:pPr lvl="1"/>
            <a:r>
              <a:rPr>
                <a:latin typeface="Courier"/>
              </a:rPr>
              <a:t>信号非平稳</a:t>
            </a:r>
            <a:r>
              <a:rPr/>
              <a:t>：跨人、跨天、跨会话差异大，模型泛化困难</a:t>
            </a:r>
          </a:p>
          <a:p>
            <a:pPr lvl="1"/>
            <a:r>
              <a:rPr>
                <a:latin typeface="Courier"/>
              </a:rPr>
              <a:t>开环控制脆弱</a:t>
            </a:r>
            <a:r>
              <a:rPr/>
              <a:t>：单次分类错误会直接带偏机械臂动作</a:t>
            </a:r>
          </a:p>
          <a:p>
            <a:pPr lvl="1"/>
            <a:r>
              <a:rPr>
                <a:latin typeface="Courier"/>
              </a:rPr>
              <a:t>硬件难部署</a:t>
            </a:r>
            <a:r>
              <a:rPr/>
              <a:t>：实验室常用 64 通道，实际更需要 8 通道消费级设备</a:t>
            </a:r>
          </a:p>
          <a:p>
            <a:pPr lvl="0" marL="0" indent="0">
              <a:buNone/>
            </a:pPr>
            <a:r>
              <a:rPr/>
              <a:t>我的目标不是只提升分类精度，而是：</a:t>
            </a:r>
          </a:p>
          <a:p>
            <a:pPr lvl="1"/>
            <a:r>
              <a:rPr/>
              <a:t>做一个 </a:t>
            </a:r>
            <a:r>
              <a:rPr>
                <a:latin typeface="Courier"/>
              </a:rPr>
              <a:t>从感知到决策再到执行</a:t>
            </a:r>
            <a:r>
              <a:rPr/>
              <a:t> 的闭环系统</a:t>
            </a:r>
          </a:p>
          <a:p>
            <a:pPr lvl="1"/>
            <a:r>
              <a:rPr/>
              <a:t>证明 </a:t>
            </a:r>
            <a:r>
              <a:rPr>
                <a:latin typeface="Courier"/>
              </a:rPr>
              <a:t>不完美感知</a:t>
            </a:r>
            <a:r>
              <a:rPr/>
              <a:t> 下依然能实现稳定控制</a:t>
            </a:r>
          </a:p>
          <a:p>
            <a:pPr lvl="1"/>
            <a:r>
              <a:rPr/>
              <a:t>让方案具备 </a:t>
            </a:r>
            <a:r>
              <a:rPr>
                <a:latin typeface="Courier"/>
              </a:rPr>
              <a:t>OpenBCI + 真实机械臂</a:t>
            </a:r>
            <a:r>
              <a:rPr/>
              <a:t> 的部署基础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系统架构</a:t>
            </a:r>
          </a:p>
        </p:txBody>
      </p:sp>
      <p:pic>
        <p:nvPicPr>
          <p:cNvPr descr="../05_Documentation/architectur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52500" y="1600200"/>
            <a:ext cx="72263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核心算法：EEGTransformer</a:t>
            </a:r>
            <a:r>
              <a:rPr/>
              <a:t> </a:t>
            </a:r>
            <a:r>
              <a:rPr/>
              <a:t>与迁移学习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分类器设计思路：</a:t>
            </a:r>
          </a:p>
          <a:p>
            <a:pPr lvl="1"/>
            <a:r>
              <a:rPr>
                <a:latin typeface="Courier"/>
              </a:rPr>
              <a:t>CNN front-end</a:t>
            </a:r>
            <a:r>
              <a:rPr/>
              <a:t>：提取 EEG 空间模式，形成数据驱动空间滤波</a:t>
            </a:r>
          </a:p>
          <a:p>
            <a:pPr lvl="1"/>
            <a:r>
              <a:rPr>
                <a:latin typeface="Courier"/>
              </a:rPr>
              <a:t>Transformer encoder</a:t>
            </a:r>
            <a:r>
              <a:rPr/>
              <a:t>：建模 4 秒 EEG 序列的长时依赖</a:t>
            </a:r>
          </a:p>
          <a:p>
            <a:pPr lvl="1"/>
            <a:r>
              <a:rPr>
                <a:latin typeface="Courier"/>
              </a:rPr>
              <a:t>Transfer learning</a:t>
            </a:r>
            <a:r>
              <a:rPr/>
              <a:t>：跨被试预训练 + 个体微调，降低校准成本</a:t>
            </a:r>
          </a:p>
          <a:p>
            <a:pPr lvl="0" marL="0" indent="0">
              <a:buNone/>
            </a:pPr>
            <a:r>
              <a:rPr/>
              <a:t>核心结果：</a:t>
            </a:r>
          </a:p>
          <a:p>
            <a:pPr lvl="1"/>
            <a:r>
              <a:rPr>
                <a:latin typeface="Courier"/>
              </a:rPr>
              <a:t>BCI IV-2a</a:t>
            </a:r>
            <a:r>
              <a:rPr/>
              <a:t>：</a:t>
            </a:r>
            <a:r>
              <a:rPr>
                <a:latin typeface="Courier"/>
              </a:rPr>
              <a:t>73.80%</a:t>
            </a:r>
          </a:p>
          <a:p>
            <a:pPr lvl="1"/>
            <a:r>
              <a:rPr>
                <a:latin typeface="Courier"/>
              </a:rPr>
              <a:t>BCI IV-2b</a:t>
            </a:r>
            <a:r>
              <a:rPr/>
              <a:t>：</a:t>
            </a:r>
            <a:r>
              <a:rPr>
                <a:latin typeface="Courier"/>
              </a:rPr>
              <a:t>82.87%</a:t>
            </a:r>
          </a:p>
          <a:p>
            <a:pPr lvl="1"/>
            <a:r>
              <a:rPr>
                <a:latin typeface="Courier"/>
              </a:rPr>
              <a:t>PhysioNet</a:t>
            </a:r>
            <a:r>
              <a:rPr/>
              <a:t>：跨被试 </a:t>
            </a:r>
            <a:r>
              <a:rPr>
                <a:latin typeface="Courier"/>
              </a:rPr>
              <a:t>56.54%</a:t>
            </a:r>
            <a:r>
              <a:rPr/>
              <a:t>，微调后 </a:t>
            </a:r>
            <a:r>
              <a:rPr>
                <a:latin typeface="Courier"/>
              </a:rPr>
              <a:t>88.78%</a:t>
            </a:r>
          </a:p>
          <a:p>
            <a:pPr lvl="1"/>
            <a:r>
              <a:rPr/>
              <a:t>微调带来 </a:t>
            </a:r>
            <a:r>
              <a:rPr>
                <a:latin typeface="Courier"/>
              </a:rPr>
              <a:t>+32</a:t>
            </a:r>
            <a:r>
              <a:rPr/>
              <a:t> 个百分点提升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迁移学习效果</a:t>
            </a:r>
          </a:p>
        </p:txBody>
      </p:sp>
      <p:pic>
        <p:nvPicPr>
          <p:cNvPr descr="../03_Experiments/physionet_ctnet_finetune/finetune_comparis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1590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迁移学习结论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109 人跨被试预训练得到可迁移表征</a:t>
            </a:r>
          </a:p>
          <a:p>
            <a:pPr lvl="1"/>
            <a:r>
              <a:rPr/>
              <a:t>只用较少个体数据微调，就能把精度拉到 </a:t>
            </a:r>
            <a:r>
              <a:rPr>
                <a:latin typeface="Courier"/>
              </a:rPr>
              <a:t>88.78%</a:t>
            </a:r>
          </a:p>
          <a:p>
            <a:pPr lvl="1"/>
            <a:r>
              <a:rPr/>
              <a:t>说明模型学到的是可迁移的 MI 结构，而不是单个被试的偶然模式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8</a:t>
            </a:r>
            <a:r>
              <a:rPr/>
              <a:t> </a:t>
            </a:r>
            <a:r>
              <a:rPr/>
              <a:t>通道部署与预处理取舍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部署不是简单降配，而是做了系统化验证：</a:t>
            </a:r>
          </a:p>
          <a:p>
            <a:pPr lvl="1"/>
            <a:r>
              <a:rPr/>
              <a:t>用 </a:t>
            </a:r>
            <a:r>
              <a:rPr>
                <a:latin typeface="Courier"/>
              </a:rPr>
              <a:t>leave-one-channel-out</a:t>
            </a:r>
            <a:r>
              <a:rPr/>
              <a:t> 消融找关键电极，结果显示 </a:t>
            </a:r>
            <a:r>
              <a:rPr>
                <a:latin typeface="Courier"/>
              </a:rPr>
              <a:t>C3</a:t>
            </a:r>
            <a:r>
              <a:rPr/>
              <a:t> 最关键</a:t>
            </a:r>
          </a:p>
          <a:p>
            <a:pPr lvl="1"/>
            <a:r>
              <a:rPr/>
              <a:t>设计 OpenBCI 兼容的 8 通道集合：</a:t>
            </a:r>
            <a:r>
              <a:rPr>
                <a:latin typeface="Courier"/>
              </a:rPr>
              <a:t>C3/C4/FC3/FC4/CP3/CP4/Cz/FCz</a:t>
            </a:r>
          </a:p>
          <a:p>
            <a:pPr lvl="1"/>
            <a:r>
              <a:rPr/>
              <a:t>8 通道下经过个体微调，平均精度仍达到 </a:t>
            </a:r>
            <a:r>
              <a:rPr>
                <a:latin typeface="Courier"/>
              </a:rPr>
              <a:t>72.54%</a:t>
            </a:r>
          </a:p>
          <a:p>
            <a:pPr lvl="1"/>
            <a:r>
              <a:rPr/>
              <a:t>预处理消融显示：</a:t>
            </a:r>
            <a:r>
              <a:rPr>
                <a:latin typeface="Courier"/>
              </a:rPr>
              <a:t>8-30 Hz</a:t>
            </a:r>
            <a:r>
              <a:rPr/>
              <a:t> 带通滤波平均 </a:t>
            </a:r>
            <a:r>
              <a:rPr>
                <a:latin typeface="Courier"/>
              </a:rPr>
              <a:t>+18.44%</a:t>
            </a:r>
            <a:r>
              <a:rPr/>
              <a:t>，</a:t>
            </a:r>
            <a:r>
              <a:rPr>
                <a:latin typeface="Courier"/>
              </a:rPr>
              <a:t>ICA</a:t>
            </a:r>
            <a:r>
              <a:rPr/>
              <a:t> 仅 </a:t>
            </a:r>
            <a:r>
              <a:rPr>
                <a:latin typeface="Courier"/>
              </a:rPr>
              <a:t>+1.51%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8</a:t>
            </a:r>
            <a:r>
              <a:rPr/>
              <a:t> </a:t>
            </a:r>
            <a:r>
              <a:rPr/>
              <a:t>通道部署结果图</a:t>
            </a:r>
          </a:p>
        </p:txBody>
      </p:sp>
      <p:pic>
        <p:nvPicPr>
          <p:cNvPr descr="../03_Experiments/Channel_Reduction/channel_reduction/channel_reduction_comparis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816100"/>
            <a:ext cx="82296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8</a:t>
            </a:r>
            <a:r>
              <a:rPr/>
              <a:t> </a:t>
            </a:r>
            <a:r>
              <a:rPr/>
              <a:t>通道结论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在显著减少通道数后，系统仍保留可用控制潜力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闭环决策：Transformer</a:t>
            </a:r>
            <a:r>
              <a:rPr/>
              <a:t> </a:t>
            </a:r>
            <a:r>
              <a:rPr/>
              <a:t>DQN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我把控制问题建模成 MDP：</a:t>
            </a:r>
          </a:p>
          <a:p>
            <a:pPr lvl="1"/>
            <a:r>
              <a:rPr/>
              <a:t>状态：末端位置、目标位置、距离，以及可选的 </a:t>
            </a:r>
            <a:r>
              <a:rPr>
                <a:latin typeface="Courier"/>
              </a:rPr>
              <a:t>EEG 预测 + 置信度</a:t>
            </a:r>
          </a:p>
          <a:p>
            <a:pPr lvl="1"/>
            <a:r>
              <a:rPr/>
              <a:t>动作：</a:t>
            </a:r>
            <a:r>
              <a:rPr>
                <a:latin typeface="Courier"/>
              </a:rPr>
              <a:t>左 / 右 / 上 / 下</a:t>
            </a:r>
          </a:p>
          <a:p>
            <a:pPr lvl="1"/>
            <a:r>
              <a:rPr/>
              <a:t>奖励：到达目标奖励、距离改善奖励、步数惩罚、越界/震荡惩罚</a:t>
            </a:r>
          </a:p>
          <a:p>
            <a:pPr lvl="0" marL="0" indent="0">
              <a:buNone/>
            </a:pPr>
            <a:r>
              <a:rPr/>
              <a:t>架构对比：</a:t>
            </a:r>
          </a:p>
          <a:p>
            <a:pPr lvl="1"/>
            <a:r>
              <a:rPr>
                <a:latin typeface="Courier"/>
              </a:rPr>
              <a:t>CNN+LSTM</a:t>
            </a:r>
            <a:r>
              <a:rPr/>
              <a:t>：</a:t>
            </a:r>
            <a:r>
              <a:rPr>
                <a:latin typeface="Courier"/>
              </a:rPr>
              <a:t>97%</a:t>
            </a:r>
            <a:r>
              <a:rPr/>
              <a:t> reach rate</a:t>
            </a:r>
          </a:p>
          <a:p>
            <a:pPr lvl="1"/>
            <a:r>
              <a:rPr>
                <a:latin typeface="Courier"/>
              </a:rPr>
              <a:t>Light Transformer</a:t>
            </a:r>
            <a:r>
              <a:rPr/>
              <a:t>：</a:t>
            </a:r>
            <a:r>
              <a:rPr>
                <a:latin typeface="Courier"/>
              </a:rPr>
              <a:t>99%</a:t>
            </a:r>
          </a:p>
          <a:p>
            <a:pPr lvl="1"/>
            <a:r>
              <a:rPr>
                <a:latin typeface="Courier"/>
              </a:rPr>
              <a:t>Transformer DQN</a:t>
            </a:r>
            <a:r>
              <a:rPr/>
              <a:t>：</a:t>
            </a:r>
            <a:r>
              <a:rPr>
                <a:latin typeface="Courier"/>
              </a:rPr>
              <a:t>100%</a:t>
            </a:r>
            <a:r>
              <a:rPr/>
              <a:t>，最终 reward 最高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端到端结果：82%</a:t>
            </a:r>
            <a:r>
              <a:rPr/>
              <a:t> </a:t>
            </a:r>
            <a:r>
              <a:rPr/>
              <a:t>感知精度下实现</a:t>
            </a:r>
            <a:r>
              <a:rPr/>
              <a:t> </a:t>
            </a:r>
            <a:r>
              <a:rPr/>
              <a:t>99%</a:t>
            </a:r>
            <a:r>
              <a:rPr/>
              <a:t> </a:t>
            </a:r>
            <a:r>
              <a:rPr/>
              <a:t>控制成功率</a:t>
            </a:r>
          </a:p>
        </p:txBody>
      </p:sp>
      <p:pic>
        <p:nvPicPr>
          <p:cNvPr descr="../03_Experiments/E2E_Evaluation/rl_control_test/overall_performanc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603500"/>
            <a:ext cx="8229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端到端结论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EEGTransformer 分类精度：</a:t>
            </a:r>
            <a:r>
              <a:rPr>
                <a:latin typeface="Courier"/>
              </a:rPr>
              <a:t>82.22%</a:t>
            </a:r>
          </a:p>
          <a:p>
            <a:pPr lvl="1"/>
            <a:r>
              <a:rPr/>
              <a:t>闭环 DQN 目标到达率：</a:t>
            </a:r>
            <a:r>
              <a:rPr>
                <a:latin typeface="Courier"/>
              </a:rPr>
              <a:t>99.0%</a:t>
            </a:r>
          </a:p>
          <a:p>
            <a:pPr lvl="1"/>
            <a:r>
              <a:rPr/>
              <a:t>加入 EEG 预测后，训练时间从 </a:t>
            </a:r>
            <a:r>
              <a:rPr>
                <a:latin typeface="Courier"/>
              </a:rPr>
              <a:t>1130s</a:t>
            </a:r>
            <a:r>
              <a:rPr/>
              <a:t> 降到 </a:t>
            </a:r>
            <a:r>
              <a:rPr>
                <a:latin typeface="Courier"/>
              </a:rPr>
              <a:t>668s</a:t>
            </a:r>
          </a:p>
          <a:p>
            <a:pPr lvl="0" marL="0" indent="0">
              <a:buNone/>
            </a:pPr>
            <a:r>
              <a:rPr/>
              <a:t>结论：</a:t>
            </a:r>
          </a:p>
          <a:p>
            <a:pPr lvl="1"/>
            <a:r>
              <a:rPr/>
              <a:t>开环“分类即控制”不够稳</a:t>
            </a:r>
          </a:p>
          <a:p>
            <a:pPr lvl="1"/>
            <a:r>
              <a:rPr/>
              <a:t>闭环“感知 + 决策 + 纠错”明显更可靠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工程实现与验证边界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我实际完成的模块：</a:t>
            </a:r>
          </a:p>
          <a:p>
            <a:pPr lvl="1"/>
            <a:r>
              <a:rPr>
                <a:latin typeface="Courier"/>
              </a:rPr>
              <a:t>MNE / PyTorch</a:t>
            </a:r>
            <a:r>
              <a:rPr/>
              <a:t>：EEG 数据处理、训练、微调、评估</a:t>
            </a:r>
          </a:p>
          <a:p>
            <a:pPr lvl="1"/>
            <a:r>
              <a:rPr>
                <a:latin typeface="Courier"/>
              </a:rPr>
              <a:t>PyBullet</a:t>
            </a:r>
            <a:r>
              <a:rPr/>
              <a:t>：机械臂控制仿真与 RL 训练环境</a:t>
            </a:r>
          </a:p>
          <a:p>
            <a:pPr lvl="1"/>
            <a:r>
              <a:rPr>
                <a:latin typeface="Courier"/>
              </a:rPr>
              <a:t>BrainFlow</a:t>
            </a:r>
            <a:r>
              <a:rPr/>
              <a:t>：OpenBCI 实时 EEG 流接口</a:t>
            </a:r>
          </a:p>
          <a:p>
            <a:pPr lvl="1"/>
            <a:r>
              <a:rPr>
                <a:latin typeface="Courier"/>
              </a:rPr>
              <a:t>Serial / 机械臂控制</a:t>
            </a:r>
            <a:r>
              <a:rPr/>
              <a:t>：SO-101 串口协议与动作执行</a:t>
            </a:r>
          </a:p>
          <a:p>
            <a:pPr lvl="0" marL="0" indent="0">
              <a:buNone/>
            </a:pPr>
            <a:r>
              <a:rPr/>
              <a:t>当前边界：</a:t>
            </a:r>
          </a:p>
          <a:p>
            <a:pPr lvl="1"/>
            <a:r>
              <a:rPr/>
              <a:t>已完成 </a:t>
            </a:r>
            <a:r>
              <a:rPr>
                <a:latin typeface="Courier"/>
              </a:rPr>
              <a:t>完整软件链路</a:t>
            </a:r>
            <a:r>
              <a:rPr/>
              <a:t> 与 </a:t>
            </a:r>
            <a:r>
              <a:rPr>
                <a:latin typeface="Courier"/>
              </a:rPr>
              <a:t>仿真验证</a:t>
            </a:r>
          </a:p>
          <a:p>
            <a:pPr lvl="1"/>
            <a:r>
              <a:rPr/>
              <a:t>已实现 </a:t>
            </a:r>
            <a:r>
              <a:rPr>
                <a:latin typeface="Courier"/>
              </a:rPr>
              <a:t>OpenBCI 接口</a:t>
            </a:r>
            <a:r>
              <a:rPr/>
              <a:t> 和 </a:t>
            </a:r>
            <a:r>
              <a:rPr>
                <a:latin typeface="Courier"/>
              </a:rPr>
              <a:t>SO-101 控制接口</a:t>
            </a:r>
          </a:p>
          <a:p>
            <a:pPr lvl="1"/>
            <a:r>
              <a:rPr/>
              <a:t>由于伦理审批限制，</a:t>
            </a:r>
            <a:r>
              <a:rPr>
                <a:latin typeface="Courier"/>
              </a:rPr>
              <a:t>未做真人在线闭环实验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如何把它讲成机器人决策算法项目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这套项目经验可直接映射到机器人岗位：</a:t>
            </a:r>
          </a:p>
          <a:p>
            <a:pPr lvl="1"/>
            <a:r>
              <a:rPr>
                <a:latin typeface="Courier"/>
              </a:rPr>
              <a:t>感知不确定性处理</a:t>
            </a:r>
            <a:r>
              <a:rPr/>
              <a:t>：EEG 分类噪声，等价于机器人感知误差</a:t>
            </a:r>
          </a:p>
          <a:p>
            <a:pPr lvl="1"/>
            <a:r>
              <a:rPr>
                <a:latin typeface="Courier"/>
              </a:rPr>
              <a:t>决策算法设计</a:t>
            </a:r>
            <a:r>
              <a:rPr/>
              <a:t>：DQN 在闭环中基于状态和预测做动作选择与纠错</a:t>
            </a:r>
          </a:p>
          <a:p>
            <a:pPr lvl="1"/>
            <a:r>
              <a:rPr>
                <a:latin typeface="Courier"/>
              </a:rPr>
              <a:t>仿真到部署</a:t>
            </a:r>
            <a:r>
              <a:rPr/>
              <a:t>：先在 PyBullet 验证，再对接 OpenBCI 与机械臂接口</a:t>
            </a:r>
          </a:p>
          <a:p>
            <a:pPr lvl="1"/>
            <a:r>
              <a:rPr>
                <a:latin typeface="Courier"/>
              </a:rPr>
              <a:t>系统联调能力</a:t>
            </a:r>
            <a:r>
              <a:rPr/>
              <a:t>：数据、模型、控制、通信链路由我独立打通</a:t>
            </a:r>
          </a:p>
          <a:p>
            <a:pPr lvl="0" marL="0" indent="0">
              <a:buNone/>
            </a:pPr>
            <a:r>
              <a:rPr/>
              <a:t>一句话总结：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我做的不是单一分类模型，而是一个在不完美感知条件下，仍能稳定完成控制任务的闭环决策系统。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2026-04-25T12:36:51Z</dcterms:created>
  <dcterms:modified xsi:type="dcterms:W3CDTF">2026-04-25T12:36:51Z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